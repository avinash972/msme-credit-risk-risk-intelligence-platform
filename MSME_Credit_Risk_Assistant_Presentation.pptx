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7" r:id="rId2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5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02920"/>
            <a:ext cx="9509760" cy="384048"/>
          </a:xfrm>
          <a:prstGeom prst="rect">
            <a:avLst/>
          </a:prstGeom>
          <a:noFill/>
        </p:spPr>
        <p:txBody>
          <a:bodyPr wrap="square" lIns="45720" tIns="36576" rIns="45720" bIns="18288">
            <a:spAutoFit/>
          </a:bodyPr>
          <a:lstStyle/>
          <a:p>
            <a:pPr>
              <a:defRPr sz="2000" b="1">
                <a:solidFill>
                  <a:srgbClr val="163056"/>
                </a:solidFill>
                <a:latin typeface="Aptos"/>
              </a:defRPr>
            </a:pPr>
            <a:r>
              <a:t>BHARATI VIDYAPEETH (DEEMED TO BE UNIVERSITY)</a:t>
            </a:r>
          </a:p>
        </p:txBody>
      </p:sp>
      <p:sp>
        <p:nvSpPr>
          <p:cNvPr id="5" name="TextBox 4"/>
          <p:cNvSpPr txBox="1"/>
          <p:nvPr/>
        </p:nvSpPr>
        <p:spPr>
          <a:xfrm>
            <a:off x="1828800" y="914400"/>
            <a:ext cx="9509760" cy="320040"/>
          </a:xfrm>
          <a:prstGeom prst="rect">
            <a:avLst/>
          </a:prstGeom>
          <a:noFill/>
        </p:spPr>
        <p:txBody>
          <a:bodyPr wrap="square" lIns="45720" tIns="36576" rIns="45720" bIns="18288">
            <a:spAutoFit/>
          </a:bodyPr>
          <a:lstStyle/>
          <a:p>
            <a:pPr>
              <a:defRPr sz="1800" b="1">
                <a:solidFill>
                  <a:srgbClr val="2362A0"/>
                </a:solidFill>
                <a:latin typeface="Aptos"/>
              </a:defRPr>
            </a:pPr>
            <a:r>
              <a:t>COLLEGE OF ENGINEERING, PUNE</a:t>
            </a:r>
          </a:p>
        </p:txBody>
      </p:sp>
      <p:sp>
        <p:nvSpPr>
          <p:cNvPr id="6" name="TextBox 5"/>
          <p:cNvSpPr txBox="1"/>
          <p:nvPr/>
        </p:nvSpPr>
        <p:spPr>
          <a:xfrm>
            <a:off x="1828800" y="1261872"/>
            <a:ext cx="9509760" cy="292608"/>
          </a:xfrm>
          <a:prstGeom prst="rect">
            <a:avLst/>
          </a:prstGeom>
          <a:noFill/>
        </p:spPr>
        <p:txBody>
          <a:bodyPr wrap="square" lIns="45720" tIns="36576" rIns="45720" bIns="18288">
            <a:spAutoFit/>
          </a:bodyPr>
          <a:lstStyle/>
          <a:p>
            <a:pPr>
              <a:defRPr sz="1600" b="1">
                <a:solidFill>
                  <a:srgbClr val="2D343C"/>
                </a:solidFill>
                <a:latin typeface="Aptos"/>
              </a:defRPr>
            </a:pPr>
            <a:r>
              <a:t>Department of Computer Engineering</a:t>
            </a:r>
          </a:p>
        </p:txBody>
      </p:sp>
      <p:sp>
        <p:nvSpPr>
          <p:cNvPr id="7" name="Rectangle 6"/>
          <p:cNvSpPr/>
          <p:nvPr/>
        </p:nvSpPr>
        <p:spPr>
          <a:xfrm>
            <a:off x="914400" y="1965960"/>
            <a:ext cx="10332720" cy="5486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423160"/>
            <a:ext cx="10149840" cy="685800"/>
          </a:xfrm>
          <a:prstGeom prst="rect">
            <a:avLst/>
          </a:prstGeom>
          <a:noFill/>
        </p:spPr>
        <p:txBody>
          <a:bodyPr wrap="square" lIns="45720" tIns="36576" rIns="45720" bIns="18288">
            <a:spAutoFit/>
          </a:bodyPr>
          <a:lstStyle/>
          <a:p>
            <a:pPr algn="ctr">
              <a:defRPr sz="3200" b="1">
                <a:solidFill>
                  <a:srgbClr val="163056"/>
                </a:solidFill>
                <a:latin typeface="Aptos"/>
              </a:defRPr>
            </a:pPr>
            <a:r>
              <a:t>B.TECH. MAJOR PROJECT</a:t>
            </a:r>
          </a:p>
        </p:txBody>
      </p:sp>
      <p:sp>
        <p:nvSpPr>
          <p:cNvPr id="9" name="TextBox 8"/>
          <p:cNvSpPr txBox="1"/>
          <p:nvPr/>
        </p:nvSpPr>
        <p:spPr>
          <a:xfrm>
            <a:off x="914400" y="3200400"/>
            <a:ext cx="10332720" cy="731520"/>
          </a:xfrm>
          <a:prstGeom prst="rect">
            <a:avLst/>
          </a:prstGeom>
          <a:noFill/>
        </p:spPr>
        <p:txBody>
          <a:bodyPr wrap="square" lIns="45720" tIns="36576" rIns="45720" bIns="18288">
            <a:spAutoFit/>
          </a:bodyPr>
          <a:lstStyle/>
          <a:p>
            <a:pPr algn="ctr">
              <a:spcAft>
                <a:spcPts val="400"/>
              </a:spcAft>
              <a:defRPr sz="2800" b="1">
                <a:solidFill>
                  <a:srgbClr val="1A365D"/>
                </a:solidFill>
                <a:latin typeface="Arial"/>
              </a:defRPr>
            </a:pPr>
            <a:r>
              <a:t>AI-BASED MSME CREDIT RISK ASSISTANT</a:t>
            </a:r>
          </a:p>
          <a:p>
            <a:pPr>
              <a:spcAft>
                <a:spcPts val="0"/>
              </a:spcAft>
              <a:defRPr sz="1600" b="0">
                <a:solidFill>
                  <a:srgbClr val="475569"/>
                </a:solidFill>
                <a:latin typeface="Arial"/>
              </a:defRPr>
            </a:pPr>
            <a:r>
              <a:t>An Explainable Machine Learning &amp; Financial Health Decision-Support System</a:t>
            </a:r>
          </a:p>
        </p:txBody>
      </p:sp>
      <p:sp>
        <p:nvSpPr>
          <p:cNvPr id="10" name="TextBox 9"/>
          <p:cNvSpPr txBox="1"/>
          <p:nvPr/>
        </p:nvSpPr>
        <p:spPr>
          <a:xfrm>
            <a:off x="1188720" y="4160520"/>
            <a:ext cx="4754880" cy="1143000"/>
          </a:xfrm>
          <a:prstGeom prst="rect">
            <a:avLst/>
          </a:prstGeom>
          <a:noFill/>
        </p:spPr>
        <p:txBody>
          <a:bodyPr wrap="square" lIns="45720" tIns="36576" rIns="45720" bIns="18288">
            <a:spAutoFit/>
          </a:bodyPr>
          <a:lstStyle/>
          <a:p>
            <a:pPr>
              <a:spcAft>
                <a:spcPts val="200"/>
              </a:spcAft>
              <a:defRPr sz="1500" b="1">
                <a:solidFill>
                  <a:srgbClr val="1E293B"/>
                </a:solidFill>
                <a:latin typeface="Arial"/>
              </a:defRPr>
            </a:pPr>
            <a:r>
              <a:t>Submitted by:</a:t>
            </a:r>
          </a:p>
          <a:p>
            <a:pPr>
              <a:defRPr sz="1300"/>
            </a:pPr>
            <a:r>
              <a:t>Dhairya Punihani – Roll No. 78 | PRN 2314110171</a:t>
            </a:r>
          </a:p>
          <a:p>
            <a:pPr>
              <a:defRPr sz="1300"/>
            </a:pPr>
            <a:r>
              <a:t>Avinash Sharma – Roll No. 88 | PRN 2314110182</a:t>
            </a:r>
          </a:p>
          <a:p>
            <a:pPr>
              <a:defRPr sz="1300"/>
            </a:pPr>
            <a:r>
              <a:t>Vinay Pratap Singh – Roll No. 120 | PRN 2314110217</a:t>
            </a:r>
          </a:p>
        </p:txBody>
      </p:sp>
      <p:sp>
        <p:nvSpPr>
          <p:cNvPr id="11" name="TextBox 10"/>
          <p:cNvSpPr txBox="1"/>
          <p:nvPr/>
        </p:nvSpPr>
        <p:spPr>
          <a:xfrm>
            <a:off x="6400800" y="4160520"/>
            <a:ext cx="4572000" cy="1143000"/>
          </a:xfrm>
          <a:prstGeom prst="rect">
            <a:avLst/>
          </a:prstGeom>
          <a:noFill/>
        </p:spPr>
        <p:txBody>
          <a:bodyPr wrap="square" lIns="45720" tIns="36576" rIns="45720" bIns="18288">
            <a:spAutoFit/>
          </a:bodyPr>
          <a:lstStyle/>
          <a:p>
            <a:pPr>
              <a:spcAft>
                <a:spcPts val="200"/>
              </a:spcAft>
              <a:defRPr sz="1400" b="1">
                <a:solidFill>
                  <a:srgbClr val="1E293B"/>
                </a:solidFill>
                <a:latin typeface="Arial"/>
              </a:defRPr>
            </a:pPr>
            <a:r>
              <a:t>Project Guide: Prof. Ruchira Tare</a:t>
            </a:r>
          </a:p>
          <a:p>
            <a:pPr>
              <a:defRPr sz="1400"/>
            </a:pPr>
            <a:r>
              <a:t>Academic Year: 2026–2027</a:t>
            </a:r>
          </a:p>
        </p:txBody>
      </p:sp>
      <p:sp>
        <p:nvSpPr>
          <p:cNvPr id="12" name="TextBox 11"/>
          <p:cNvSpPr txBox="1"/>
          <p:nvPr/>
        </p:nvSpPr>
        <p:spPr>
          <a:xfrm>
            <a:off x="1005840" y="5943600"/>
            <a:ext cx="10149840" cy="274320"/>
          </a:xfrm>
          <a:prstGeom prst="rect">
            <a:avLst/>
          </a:prstGeom>
          <a:noFill/>
        </p:spPr>
        <p:txBody>
          <a:bodyPr wrap="square" lIns="45720" tIns="36576" rIns="45720" bIns="18288">
            <a:spAutoFit/>
          </a:bodyPr>
          <a:lstStyle/>
          <a:p>
            <a:pPr algn="ctr">
              <a:spcAft>
                <a:spcPts val="0"/>
              </a:spcAft>
              <a:defRPr sz="1300" b="1">
                <a:solidFill>
                  <a:srgbClr val="64748B"/>
                </a:solidFill>
                <a:latin typeface="Arial"/>
              </a:defRPr>
            </a:pPr>
            <a:r>
              <a:t>B.Tech. Major Project Presentation | Final Stage Review</a:t>
            </a:r>
          </a:p>
        </p:txBody>
      </p:sp>
      <p:pic>
        <p:nvPicPr>
          <p:cNvPr id="13" name="Picture 12">
            <a:extLst>
              <a:ext uri="{FF2B5EF4-FFF2-40B4-BE49-F238E27FC236}">
                <a16:creationId xmlns:a16="http://schemas.microsoft.com/office/drawing/2014/main" id="{ED089288-9113-0CBB-9534-D2527C0FF30F}"/>
              </a:ext>
            </a:extLst>
          </p:cNvPr>
          <p:cNvPicPr>
            <a:picLocks noChangeAspect="1"/>
          </p:cNvPicPr>
          <p:nvPr/>
        </p:nvPicPr>
        <p:blipFill>
          <a:blip r:embed="rId2"/>
          <a:stretch>
            <a:fillRect/>
          </a:stretch>
        </p:blipFill>
        <p:spPr>
          <a:xfrm>
            <a:off x="155448" y="380151"/>
            <a:ext cx="1517904" cy="14532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Presentation Roadmap</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2</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500"/>
              </a:spcAft>
              <a:defRPr sz="1300" b="1">
                <a:solidFill>
                  <a:srgbClr val="1E293B"/>
                </a:solidFill>
                <a:latin typeface="Arial"/>
              </a:defRPr>
            </a:pPr>
            <a:r>
              <a:rPr sz="1240" b="1">
                <a:solidFill>
                  <a:srgbClr val="202F43"/>
                </a:solidFill>
                <a:latin typeface="Aptos"/>
              </a:rPr>
              <a:t>•  01. Introduction &amp; Domain Background </a:t>
            </a:r>
            <a:r>
              <a:rPr sz="1240">
                <a:solidFill>
                  <a:srgbClr val="2A313A"/>
                </a:solidFill>
                <a:latin typeface="Aptos"/>
              </a:rPr>
              <a:t>Why MSMEs face credit-access barriers, how information asymmetry affects lending, and why transparent assessment matters.</a:t>
            </a:r>
          </a:p>
          <a:p>
            <a:pPr>
              <a:lnSpc>
                <a:spcPct val="104000"/>
              </a:lnSpc>
              <a:spcBef>
                <a:spcPts val="0"/>
              </a:spcBef>
              <a:spcAft>
                <a:spcPts val="500"/>
              </a:spcAft>
            </a:pPr>
            <a:r>
              <a:rPr sz="1240" b="1">
                <a:solidFill>
                  <a:srgbClr val="202F43"/>
                </a:solidFill>
                <a:latin typeface="Aptos"/>
              </a:rPr>
              <a:t>•  02. Problem Statement, Objectives &amp; Scope </a:t>
            </a:r>
            <a:r>
              <a:rPr sz="1240">
                <a:solidFill>
                  <a:srgbClr val="2A313A"/>
                </a:solidFill>
                <a:latin typeface="Aptos"/>
              </a:rPr>
              <a:t>Define the prediction problem, target risk categories, project goals, and the boundaries of a decision-support prototype.</a:t>
            </a:r>
          </a:p>
          <a:p>
            <a:pPr>
              <a:lnSpc>
                <a:spcPct val="104000"/>
              </a:lnSpc>
              <a:spcBef>
                <a:spcPts val="0"/>
              </a:spcBef>
              <a:spcAft>
                <a:spcPts val="500"/>
              </a:spcAft>
            </a:pPr>
            <a:r>
              <a:rPr sz="1240" b="1">
                <a:solidFill>
                  <a:srgbClr val="202F43"/>
                </a:solidFill>
                <a:latin typeface="Aptos"/>
              </a:rPr>
              <a:t>•  03. Literature Review &amp; Research Gap </a:t>
            </a:r>
            <a:r>
              <a:rPr sz="1240">
                <a:solidFill>
                  <a:srgbClr val="2A313A"/>
                </a:solidFill>
                <a:latin typeface="Aptos"/>
              </a:rPr>
              <a:t>Review the base paper’s data-fusion and explainability approach, then identify what our user-facing workflow adds.</a:t>
            </a:r>
          </a:p>
          <a:p>
            <a:pPr>
              <a:lnSpc>
                <a:spcPct val="104000"/>
              </a:lnSpc>
              <a:spcBef>
                <a:spcPts val="0"/>
              </a:spcBef>
              <a:spcAft>
                <a:spcPts val="500"/>
              </a:spcAft>
            </a:pPr>
            <a:r>
              <a:rPr sz="1240" b="1">
                <a:solidFill>
                  <a:srgbClr val="202F43"/>
                </a:solidFill>
                <a:latin typeface="Aptos"/>
              </a:rPr>
              <a:t>•  04. Proposed System &amp; Architecture </a:t>
            </a:r>
            <a:r>
              <a:rPr sz="1240">
                <a:solidFill>
                  <a:srgbClr val="2A313A"/>
                </a:solidFill>
                <a:latin typeface="Aptos"/>
              </a:rPr>
              <a:t>Explain the end-to-end flow: financial inputs → feature engineering → risk prediction → explanation → scenario analysis.</a:t>
            </a:r>
          </a:p>
          <a:p>
            <a:pPr>
              <a:lnSpc>
                <a:spcPct val="104000"/>
              </a:lnSpc>
              <a:spcBef>
                <a:spcPts val="0"/>
              </a:spcBef>
              <a:spcAft>
                <a:spcPts val="500"/>
              </a:spcAft>
            </a:pPr>
            <a:r>
              <a:rPr sz="1240" b="1">
                <a:solidFill>
                  <a:srgbClr val="202F43"/>
                </a:solidFill>
                <a:latin typeface="Aptos"/>
              </a:rPr>
              <a:t>•  05. Methodology &amp; Implementation </a:t>
            </a:r>
            <a:r>
              <a:rPr sz="1240">
                <a:solidFill>
                  <a:srgbClr val="2A313A"/>
                </a:solidFill>
                <a:latin typeface="Aptos"/>
              </a:rPr>
              <a:t>Summarize synthetic data generation, preprocessing, model comparison, SHAP integration, database storage, and reporting.</a:t>
            </a:r>
          </a:p>
          <a:p>
            <a:pPr>
              <a:lnSpc>
                <a:spcPct val="104000"/>
              </a:lnSpc>
              <a:spcBef>
                <a:spcPts val="0"/>
              </a:spcBef>
              <a:spcAft>
                <a:spcPts val="500"/>
              </a:spcAft>
            </a:pPr>
            <a:r>
              <a:rPr sz="1240" b="1">
                <a:solidFill>
                  <a:srgbClr val="202F43"/>
                </a:solidFill>
                <a:latin typeface="Aptos"/>
              </a:rPr>
              <a:t>•  06. Evaluation &amp; Discussion </a:t>
            </a:r>
            <a:r>
              <a:rPr sz="1240">
                <a:solidFill>
                  <a:srgbClr val="2A313A"/>
                </a:solidFill>
                <a:latin typeface="Aptos"/>
              </a:rPr>
              <a:t>Present cross-validation and held-out test metrics, class-wise results, and limitations of synthetic-data evaluation.</a:t>
            </a:r>
          </a:p>
          <a:p>
            <a:pPr>
              <a:lnSpc>
                <a:spcPct val="104000"/>
              </a:lnSpc>
              <a:spcBef>
                <a:spcPts val="0"/>
              </a:spcBef>
              <a:spcAft>
                <a:spcPts val="500"/>
              </a:spcAft>
            </a:pPr>
            <a:r>
              <a:rPr sz="1240" b="1">
                <a:solidFill>
                  <a:srgbClr val="202F43"/>
                </a:solidFill>
                <a:latin typeface="Aptos"/>
              </a:rPr>
              <a:t>•  07. Conclusion &amp; Future Scope </a:t>
            </a:r>
            <a:r>
              <a:rPr sz="1240">
                <a:solidFill>
                  <a:srgbClr val="2A313A"/>
                </a:solidFill>
                <a:latin typeface="Aptos"/>
              </a:rPr>
              <a:t>Highlight current contributions, responsible use boundaries, and next steps for validation on representative real data.</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Introduction / Background</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3</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15000"/>
              </a:lnSpc>
              <a:spcBef>
                <a:spcPts val="0"/>
              </a:spcBef>
              <a:spcAft>
                <a:spcPts val="400"/>
              </a:spcAft>
              <a:defRPr sz="1400" b="1">
                <a:solidFill>
                  <a:srgbClr val="1E293B"/>
                </a:solidFill>
                <a:latin typeface="Arial"/>
              </a:defRPr>
            </a:pPr>
            <a:r>
              <a:rPr sz="1220" b="1">
                <a:solidFill>
                  <a:srgbClr val="202F43"/>
                </a:solidFill>
                <a:latin typeface="Aptos"/>
              </a:rPr>
              <a:t>•  MSME Economic Pillar: </a:t>
            </a:r>
            <a:r>
              <a:rPr sz="1220" b="0">
                <a:solidFill>
                  <a:srgbClr val="2A313A"/>
                </a:solidFill>
                <a:latin typeface="Aptos"/>
              </a:rPr>
              <a:t>Over 63 million enterprises contribute ~30% of India's GDP, 45% of manufacturing exports, and employ upwards of 110 million individuals across urban and rural economies.</a:t>
            </a:r>
          </a:p>
          <a:p>
            <a:pPr>
              <a:lnSpc>
                <a:spcPct val="115000"/>
              </a:lnSpc>
              <a:spcAft>
                <a:spcPts val="400"/>
              </a:spcAft>
            </a:pPr>
            <a:r>
              <a:rPr sz="1220" b="1">
                <a:solidFill>
                  <a:srgbClr val="202F43"/>
                </a:solidFill>
                <a:latin typeface="Aptos"/>
              </a:rPr>
              <a:t>•  Addressable Credit Deficit: </a:t>
            </a:r>
            <a:r>
              <a:rPr sz="1220" b="0">
                <a:solidFill>
                  <a:srgbClr val="2A313A"/>
                </a:solidFill>
                <a:latin typeface="Aptos"/>
              </a:rPr>
              <a:t>The International Finance Corporation (IFC) and RBI expert committees estimate an addressable credit gap of ₹25.8 Trillion ($330B), forcing over 80% of viable MSMEs into high-cost informal borrowing (24–36% p.a.).</a:t>
            </a:r>
          </a:p>
          <a:p>
            <a:pPr>
              <a:lnSpc>
                <a:spcPct val="115000"/>
              </a:lnSpc>
              <a:spcAft>
                <a:spcPts val="400"/>
              </a:spcAft>
            </a:pPr>
            <a:r>
              <a:rPr sz="1220" b="1">
                <a:solidFill>
                  <a:srgbClr val="202F43"/>
                </a:solidFill>
                <a:latin typeface="Aptos"/>
              </a:rPr>
              <a:t>•  Underwriting Bottlenecks: </a:t>
            </a:r>
            <a:r>
              <a:rPr sz="1220" b="0">
                <a:solidFill>
                  <a:srgbClr val="2A313A"/>
                </a:solidFill>
                <a:latin typeface="Aptos"/>
              </a:rPr>
              <a:t>Traditional commercial lending requires audited balance sheets and real estate collateral. Nascent and service-oriented enterprises lack these, suffering automatic rejection under thin-file credit bureau cutoffs.</a:t>
            </a:r>
          </a:p>
          <a:p>
            <a:pPr>
              <a:lnSpc>
                <a:spcPct val="115000"/>
              </a:lnSpc>
              <a:spcAft>
                <a:spcPts val="400"/>
              </a:spcAft>
            </a:pPr>
            <a:r>
              <a:rPr sz="1220" b="1">
                <a:solidFill>
                  <a:srgbClr val="202F43"/>
                </a:solidFill>
                <a:latin typeface="Aptos"/>
              </a:rPr>
              <a:t>•  The Black-Box Dilemma: </a:t>
            </a:r>
            <a:r>
              <a:rPr sz="1220" b="0">
                <a:solidFill>
                  <a:srgbClr val="2A313A"/>
                </a:solidFill>
                <a:latin typeface="Aptos"/>
              </a:rPr>
              <a:t>Automated fintech algorithms operate as unexplainable black boxes, failing to comply with RBI Fair Lending directives and offering rejected borrowers no explanation or remediation roadmap.</a:t>
            </a:r>
          </a:p>
          <a:p>
            <a:pPr>
              <a:lnSpc>
                <a:spcPct val="115000"/>
              </a:lnSpc>
              <a:spcAft>
                <a:spcPts val="400"/>
              </a:spcAft>
            </a:pPr>
            <a:r>
              <a:rPr sz="1220" b="1">
                <a:solidFill>
                  <a:srgbClr val="202F43"/>
                </a:solidFill>
                <a:latin typeface="Aptos"/>
              </a:rPr>
              <a:t>•  Proposed Solution &amp; Purpose: </a:t>
            </a:r>
            <a:r>
              <a:rPr sz="1220" b="0">
                <a:solidFill>
                  <a:srgbClr val="2A313A"/>
                </a:solidFill>
                <a:latin typeface="Aptos"/>
              </a:rPr>
              <a:t>Our prototype bridges this divide through an integrated PREDICT → EXPLAIN → SIMULATE → IMPROVE architecture, delivering calibrated risk scoring, SHAP attributions, a 5-pillar health score, and counterfactual simulation.</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Problem Statement &amp; Motivation</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4</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700"/>
              </a:spcAft>
              <a:defRPr sz="1400" b="1">
                <a:solidFill>
                  <a:srgbClr val="1E293B"/>
                </a:solidFill>
                <a:latin typeface="Arial"/>
              </a:defRPr>
            </a:pPr>
            <a:r>
              <a:rPr sz="1300" b="1">
                <a:solidFill>
                  <a:srgbClr val="202F43"/>
                </a:solidFill>
                <a:latin typeface="Aptos"/>
              </a:rPr>
              <a:t>•  Core Problem: </a:t>
            </a:r>
            <a:r>
              <a:rPr sz="1300">
                <a:solidFill>
                  <a:srgbClr val="2A313A"/>
                </a:solidFill>
                <a:latin typeface="Aptos"/>
              </a:rPr>
              <a:t>MSME credit-risk assessment is challenging when financial records are incomplete, indicators have different scales, and default-risk classes may not be evenly represented.</a:t>
            </a:r>
          </a:p>
          <a:p>
            <a:pPr>
              <a:lnSpc>
                <a:spcPct val="104000"/>
              </a:lnSpc>
              <a:spcBef>
                <a:spcPts val="0"/>
              </a:spcBef>
              <a:spcAft>
                <a:spcPts val="700"/>
              </a:spcAft>
            </a:pPr>
            <a:r>
              <a:rPr sz="1300" b="1">
                <a:solidFill>
                  <a:srgbClr val="202F43"/>
                </a:solidFill>
                <a:latin typeface="Aptos"/>
              </a:rPr>
              <a:t>•  Traditional-System Limitations: </a:t>
            </a:r>
            <a:r>
              <a:rPr sz="1300">
                <a:solidFill>
                  <a:srgbClr val="2A313A"/>
                </a:solidFill>
                <a:latin typeface="Aptos"/>
              </a:rPr>
              <a:t>Static bureau scores and manual review can provide limited context for a business’s current cash flow, debt burden and profitability. Their outputs may also be difficult for non-technical users to interpret.</a:t>
            </a:r>
          </a:p>
          <a:p>
            <a:pPr>
              <a:lnSpc>
                <a:spcPct val="104000"/>
              </a:lnSpc>
              <a:spcBef>
                <a:spcPts val="0"/>
              </a:spcBef>
              <a:spcAft>
                <a:spcPts val="700"/>
              </a:spcAft>
            </a:pPr>
            <a:r>
              <a:rPr sz="1300" b="1">
                <a:solidFill>
                  <a:srgbClr val="202F43"/>
                </a:solidFill>
                <a:latin typeface="Aptos"/>
              </a:rPr>
              <a:t>•  Model Transparency Gap: </a:t>
            </a:r>
            <a:r>
              <a:rPr sz="1300">
                <a:solidFill>
                  <a:srgbClr val="2A313A"/>
                </a:solidFill>
                <a:latin typeface="Aptos"/>
              </a:rPr>
              <a:t>A prediction without an explanation can be hard to trust or challenge. Users need to see which financial variables are pushing the estimated risk upward or downward.</a:t>
            </a:r>
          </a:p>
          <a:p>
            <a:pPr>
              <a:lnSpc>
                <a:spcPct val="104000"/>
              </a:lnSpc>
              <a:spcBef>
                <a:spcPts val="0"/>
              </a:spcBef>
              <a:spcAft>
                <a:spcPts val="700"/>
              </a:spcAft>
            </a:pPr>
            <a:r>
              <a:rPr sz="1300" b="1">
                <a:solidFill>
                  <a:srgbClr val="202F43"/>
                </a:solidFill>
                <a:latin typeface="Aptos"/>
              </a:rPr>
              <a:t>•  Actionability Gap: </a:t>
            </a:r>
            <a:r>
              <a:rPr sz="1300">
                <a:solidFill>
                  <a:srgbClr val="2A313A"/>
                </a:solidFill>
                <a:latin typeface="Aptos"/>
              </a:rPr>
              <a:t>A conventional risk category rarely shows how a change in revenue, expenses or debt might affect the assessment. Scenario analysis can support planning, while still avoiding guarantees about future lending decisions.</a:t>
            </a:r>
          </a:p>
          <a:p>
            <a:pPr>
              <a:lnSpc>
                <a:spcPct val="104000"/>
              </a:lnSpc>
              <a:spcBef>
                <a:spcPts val="0"/>
              </a:spcBef>
              <a:spcAft>
                <a:spcPts val="700"/>
              </a:spcAft>
            </a:pPr>
            <a:r>
              <a:rPr sz="1300" b="1">
                <a:solidFill>
                  <a:srgbClr val="202F43"/>
                </a:solidFill>
                <a:latin typeface="Aptos"/>
              </a:rPr>
              <a:t>•  Project Response: </a:t>
            </a:r>
            <a:r>
              <a:rPr sz="1300">
                <a:solidFill>
                  <a:srgbClr val="2A313A"/>
                </a:solidFill>
                <a:latin typeface="Aptos"/>
              </a:rPr>
              <a:t>The proposed assistant combines engineered financial ratios, model-based risk classification, SHAP explanations, a five-pillar health score and interactive What-If analysis in one interface.</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Aim, Objectives &amp; Scope</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5</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500"/>
              </a:spcAft>
              <a:defRPr sz="1300" b="1">
                <a:solidFill>
                  <a:srgbClr val="1E293B"/>
                </a:solidFill>
                <a:latin typeface="Arial"/>
              </a:defRPr>
            </a:pPr>
            <a:r>
              <a:rPr sz="1300" b="1">
                <a:solidFill>
                  <a:srgbClr val="202F43"/>
                </a:solidFill>
                <a:latin typeface="Aptos"/>
              </a:rPr>
              <a:t>•  Project Aim: </a:t>
            </a:r>
            <a:r>
              <a:rPr sz="1300">
                <a:solidFill>
                  <a:srgbClr val="2A313A"/>
                </a:solidFill>
                <a:latin typeface="Aptos"/>
              </a:rPr>
              <a:t>Develop and evaluate an explainable machine-learning decision-support prototype that classifies MSME credit risk and presents financial indicators in an understandable form.</a:t>
            </a:r>
          </a:p>
          <a:p>
            <a:pPr>
              <a:lnSpc>
                <a:spcPct val="104000"/>
              </a:lnSpc>
              <a:spcBef>
                <a:spcPts val="0"/>
              </a:spcBef>
              <a:spcAft>
                <a:spcPts val="500"/>
              </a:spcAft>
            </a:pPr>
            <a:r>
              <a:rPr sz="1300" b="1">
                <a:solidFill>
                  <a:srgbClr val="202F43"/>
                </a:solidFill>
                <a:latin typeface="Aptos"/>
              </a:rPr>
              <a:t>•  Objective 1 — Financial Features: </a:t>
            </a:r>
            <a:r>
              <a:rPr sz="1300">
                <a:solidFill>
                  <a:srgbClr val="2A313A"/>
                </a:solidFill>
                <a:latin typeface="Aptos"/>
              </a:rPr>
              <a:t>Calculate relevant ratios such as debt-to-income/revenue, profit margin, loan-to-income and cash-flow coverage. Guard against division by zero and invalid values.</a:t>
            </a:r>
          </a:p>
          <a:p>
            <a:pPr>
              <a:lnSpc>
                <a:spcPct val="104000"/>
              </a:lnSpc>
              <a:spcBef>
                <a:spcPts val="0"/>
              </a:spcBef>
              <a:spcAft>
                <a:spcPts val="500"/>
              </a:spcAft>
            </a:pPr>
            <a:r>
              <a:rPr sz="1300" b="1">
                <a:solidFill>
                  <a:srgbClr val="202F43"/>
                </a:solidFill>
                <a:latin typeface="Aptos"/>
              </a:rPr>
              <a:t>•  Objective 2 — Reliable Evaluation: </a:t>
            </a:r>
            <a:r>
              <a:rPr sz="1300">
                <a:solidFill>
                  <a:srgbClr val="2A313A"/>
                </a:solidFill>
                <a:latin typeface="Aptos"/>
              </a:rPr>
              <a:t>Compare candidate classifiers using a held-out test set and cross-validation. Keep preprocessing and any resampling within training folds to reduce data leakage.</a:t>
            </a:r>
          </a:p>
          <a:p>
            <a:pPr>
              <a:lnSpc>
                <a:spcPct val="104000"/>
              </a:lnSpc>
              <a:spcBef>
                <a:spcPts val="0"/>
              </a:spcBef>
              <a:spcAft>
                <a:spcPts val="500"/>
              </a:spcAft>
            </a:pPr>
            <a:r>
              <a:rPr sz="1300" b="1">
                <a:solidFill>
                  <a:srgbClr val="202F43"/>
                </a:solidFill>
                <a:latin typeface="Aptos"/>
              </a:rPr>
              <a:t>•  Objective 3 — Explainability: </a:t>
            </a:r>
            <a:r>
              <a:rPr sz="1300">
                <a:solidFill>
                  <a:srgbClr val="2A313A"/>
                </a:solidFill>
                <a:latin typeface="Aptos"/>
              </a:rPr>
              <a:t>Use SHAP-based feature attribution to show the main factors associated with an individual prediction and support interpretation of model behaviour.</a:t>
            </a:r>
          </a:p>
          <a:p>
            <a:pPr>
              <a:lnSpc>
                <a:spcPct val="104000"/>
              </a:lnSpc>
              <a:spcBef>
                <a:spcPts val="0"/>
              </a:spcBef>
              <a:spcAft>
                <a:spcPts val="500"/>
              </a:spcAft>
            </a:pPr>
            <a:r>
              <a:rPr sz="1300" b="1">
                <a:solidFill>
                  <a:srgbClr val="202F43"/>
                </a:solidFill>
                <a:latin typeface="Aptos"/>
              </a:rPr>
              <a:t>•  Objective 4 — Financial Health &amp; Scenarios: </a:t>
            </a:r>
            <a:r>
              <a:rPr sz="1300">
                <a:solidFill>
                  <a:srgbClr val="2A313A"/>
                </a:solidFill>
                <a:latin typeface="Aptos"/>
              </a:rPr>
              <a:t>Present a weighted five-pillar score and allow users to adjust selected inputs to explore how the calculated indicators and risk output may change.</a:t>
            </a:r>
          </a:p>
          <a:p>
            <a:pPr>
              <a:lnSpc>
                <a:spcPct val="104000"/>
              </a:lnSpc>
              <a:spcBef>
                <a:spcPts val="0"/>
              </a:spcBef>
              <a:spcAft>
                <a:spcPts val="500"/>
              </a:spcAft>
            </a:pPr>
            <a:r>
              <a:rPr sz="1300" b="1">
                <a:solidFill>
                  <a:srgbClr val="202F43"/>
                </a:solidFill>
                <a:latin typeface="Aptos"/>
              </a:rPr>
              <a:t>•  Objective 5 — Usable Outputs: </a:t>
            </a:r>
            <a:r>
              <a:rPr sz="1300">
                <a:solidFill>
                  <a:srgbClr val="2A313A"/>
                </a:solidFill>
                <a:latin typeface="Aptos"/>
              </a:rPr>
              <a:t>Provide a Streamlit dashboard, persistent SQLite assessment history and downloadable PDF summaries for review. The system supports decisions; it does not automatically approve or reject loans.</a:t>
            </a:r>
          </a:p>
          <a:p>
            <a:pPr>
              <a:lnSpc>
                <a:spcPct val="104000"/>
              </a:lnSpc>
              <a:spcBef>
                <a:spcPts val="0"/>
              </a:spcBef>
              <a:spcAft>
                <a:spcPts val="500"/>
              </a:spcAft>
            </a:pPr>
            <a:r>
              <a:rPr sz="1300" b="1">
                <a:solidFill>
                  <a:srgbClr val="202F43"/>
                </a:solidFill>
                <a:latin typeface="Aptos"/>
              </a:rPr>
              <a:t>•  Scope Boundary: </a:t>
            </a:r>
            <a:r>
              <a:rPr sz="1300">
                <a:solidFill>
                  <a:srgbClr val="2A313A"/>
                </a:solidFill>
                <a:latin typeface="Aptos"/>
              </a:rPr>
              <a:t>The current evaluation uses 1,500 synthetic records. Performance on real MSME portfolios must be independently validated before any operational lending use.</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Literature Review</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6</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15000"/>
              </a:lnSpc>
              <a:spcBef>
                <a:spcPts val="0"/>
              </a:spcBef>
              <a:spcAft>
                <a:spcPts val="800"/>
              </a:spcAft>
              <a:defRPr sz="1700" b="1">
                <a:solidFill>
                  <a:srgbClr val="2D3746"/>
                </a:solidFill>
                <a:latin typeface="Aptos"/>
              </a:defRPr>
            </a:pPr>
            <a:r>
              <a:rPr sz="1200" b="1">
                <a:solidFill>
                  <a:srgbClr val="202F43"/>
                </a:solidFill>
                <a:latin typeface="Aptos"/>
              </a:rPr>
              <a:t>•  Base-Paper Focus (Gudadhe et al., June 2026): </a:t>
            </a:r>
            <a:r>
              <a:rPr sz="1200" b="0">
                <a:solidFill>
                  <a:srgbClr val="2A313A"/>
                </a:solidFill>
                <a:latin typeface="Aptos"/>
              </a:rPr>
              <a:t>Dr. Santwana Gudadhe, Dr. Sita Yadav et al. (IJAIML, SvedbergOpen) investigated explainable alternative credit scoring for thin-file MSMEs by fusing US SBA loan data, application records, and credit bureau histories.</a:t>
            </a:r>
          </a:p>
          <a:p>
            <a:pPr>
              <a:lnSpc>
                <a:spcPct val="115000"/>
              </a:lnSpc>
              <a:spcAft>
                <a:spcPts val="800"/>
              </a:spcAft>
            </a:pPr>
            <a:r>
              <a:rPr sz="1200" b="1">
                <a:solidFill>
                  <a:srgbClr val="202F43"/>
                </a:solidFill>
                <a:latin typeface="Aptos"/>
              </a:rPr>
              <a:t>•  Modelling Approach in Base Paper: </a:t>
            </a:r>
            <a:r>
              <a:rPr sz="1200" b="0">
                <a:solidFill>
                  <a:srgbClr val="2A313A"/>
                </a:solidFill>
                <a:latin typeface="Aptos"/>
              </a:rPr>
              <a:t>Logistic Regression was benchmarked against XGBoost as the advanced model. SMOTE was applied strictly to training data to address default class imbalance, reporting an empirical AUC of 0.9646 and an F1-score of 0.9115.</a:t>
            </a:r>
          </a:p>
          <a:p>
            <a:pPr>
              <a:lnSpc>
                <a:spcPct val="115000"/>
              </a:lnSpc>
              <a:spcAft>
                <a:spcPts val="800"/>
              </a:spcAft>
            </a:pPr>
            <a:r>
              <a:rPr sz="1200" b="1">
                <a:solidFill>
                  <a:srgbClr val="202F43"/>
                </a:solidFill>
                <a:latin typeface="Aptos"/>
              </a:rPr>
              <a:t>•  Explainability &amp; API Delivery: </a:t>
            </a:r>
            <a:r>
              <a:rPr sz="1200" b="0">
                <a:solidFill>
                  <a:srgbClr val="2A313A"/>
                </a:solidFill>
                <a:latin typeface="Aptos"/>
              </a:rPr>
              <a:t>SHAP (TreeSHAP) was utilized to interpret important default risk drivers (e.g., delinquency ratios, credit history length), and the scoring model was exposed via a REST-based API for software integration.</a:t>
            </a:r>
          </a:p>
          <a:p>
            <a:pPr>
              <a:lnSpc>
                <a:spcPct val="115000"/>
              </a:lnSpc>
              <a:spcAft>
                <a:spcPts val="800"/>
              </a:spcAft>
            </a:pPr>
            <a:r>
              <a:rPr sz="1200" b="1">
                <a:solidFill>
                  <a:srgbClr val="202F43"/>
                </a:solidFill>
                <a:latin typeface="Aptos"/>
              </a:rPr>
              <a:t>•  Foundational XAI &amp; Scoring Literature: </a:t>
            </a:r>
            <a:r>
              <a:rPr sz="1200" b="0">
                <a:solidFill>
                  <a:srgbClr val="2A313A"/>
                </a:solidFill>
                <a:latin typeface="Aptos"/>
              </a:rPr>
              <a:t>Synthesizes Bussmann et al. (2021) for XAI supervisory compliance, Chawla et al. (2002) for SMOTE resampling, Ciampi et al. (2020) for financial ratio engineering, and Lundberg &amp; Lee (2017) for cooperative game theory (SHAP).</a:t>
            </a:r>
          </a:p>
          <a:p>
            <a:pPr>
              <a:lnSpc>
                <a:spcPct val="115000"/>
              </a:lnSpc>
              <a:spcAft>
                <a:spcPts val="800"/>
              </a:spcAft>
            </a:pPr>
            <a:r>
              <a:rPr sz="1200" b="1">
                <a:solidFill>
                  <a:srgbClr val="202F43"/>
                </a:solidFill>
                <a:latin typeface="Aptos"/>
              </a:rPr>
              <a:t>•  Our Extended Implementation Setting: </a:t>
            </a:r>
            <a:r>
              <a:rPr sz="1200" b="0">
                <a:solidFill>
                  <a:srgbClr val="2A313A"/>
                </a:solidFill>
                <a:latin typeface="Aptos"/>
              </a:rPr>
              <a:t>Our prototype evaluates candidate models across a controlled benchmark (scaling to arbitrary/infinite streaming batches, tested at 272k+), selecting regularized Logistic Regression (CV F1: 0.8671, Test Acc: 86.33%, ROC-AUC: 0.9680) due to smooth financial ratio geometry, with zero data leakage.</a:t>
            </a:r>
          </a:p>
          <a:p>
            <a:pPr>
              <a:lnSpc>
                <a:spcPct val="115000"/>
              </a:lnSpc>
              <a:spcAft>
                <a:spcPts val="800"/>
              </a:spcAft>
            </a:pPr>
            <a:r>
              <a:rPr sz="1200" b="1">
                <a:solidFill>
                  <a:srgbClr val="202F43"/>
                </a:solidFill>
                <a:latin typeface="Aptos"/>
              </a:rPr>
              <a:t>•  Core Paradigm Shift: </a:t>
            </a:r>
            <a:r>
              <a:rPr sz="1200" b="0">
                <a:solidFill>
                  <a:srgbClr val="2A313A"/>
                </a:solidFill>
                <a:latin typeface="Aptos"/>
              </a:rPr>
              <a:t>While Gudadhe et al. emphasize an offline, binary prediction model, our work transitions from a static score to an active, closed-loop PREDICT → EXPLAIN → SIMULATE → IMPROVE decision-support ecosystem.</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sz="2800" b="1">
                <a:solidFill>
                  <a:srgbClr val="1E3C64"/>
                </a:solidFill>
                <a:latin typeface="Aptos Display"/>
              </a:rPr>
              <a:t>Base Paper vs Our Project</a:t>
            </a:r>
          </a:p>
        </p:txBody>
      </p:sp>
      <p:sp>
        <p:nvSpPr>
          <p:cNvPr id="3" name="Rectangle 2"/>
          <p:cNvSpPr/>
          <p:nvPr/>
        </p:nvSpPr>
        <p:spPr>
          <a:xfrm>
            <a:off x="0" y="0"/>
            <a:ext cx="12192000" cy="109728"/>
          </a:xfrm>
          <a:prstGeom prst="rect">
            <a:avLst/>
          </a:prstGeom>
          <a:solidFill>
            <a:srgbClr val="0082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143000"/>
            <a:ext cx="5394960" cy="4480560"/>
          </a:xfrm>
          <a:prstGeom prst="roundRect">
            <a:avLst/>
          </a:prstGeom>
          <a:solidFill>
            <a:srgbClr val="EFF5FC"/>
          </a:solidFill>
          <a:ln>
            <a:solidFill>
              <a:srgbClr val="B4C8DC"/>
            </a:solidFill>
          </a:ln>
        </p:spPr>
        <p:style>
          <a:lnRef idx="1">
            <a:schemeClr val="accent1"/>
          </a:lnRef>
          <a:fillRef idx="3">
            <a:schemeClr val="accent1"/>
          </a:fillRef>
          <a:effectRef idx="2">
            <a:schemeClr val="accent1"/>
          </a:effectRef>
          <a:fontRef idx="minor">
            <a:schemeClr val="lt1"/>
          </a:fontRef>
        </p:style>
        <p:txBody>
          <a:bodyPr rtlCol="0" anchor="t" lIns="76200" rIns="76200" tIns="63500" wrap="square" bIns="50800"/>
          <a:lstStyle/>
          <a:p>
            <a:pPr algn="l">
              <a:lnSpc>
                <a:spcPct val="104000"/>
              </a:lnSpc>
              <a:spcBef>
                <a:spcPts val="0"/>
              </a:spcBef>
              <a:spcAft>
                <a:spcPts val="800"/>
              </a:spcAft>
              <a:defRPr sz="1500">
                <a:latin typeface="Aptos"/>
              </a:defRPr>
            </a:pPr>
            <a:r>
              <a:rPr sz="1500" b="1">
                <a:solidFill>
                  <a:srgbClr val="202F43"/>
                </a:solidFill>
                <a:latin typeface="Calibri"/>
              </a:rPr>
              <a:t>BASE PAPER (Gudadhe et al., 2026)
</a:t>
            </a:r>
          </a:p>
          <a:p>
            <a:pPr>
              <a:lnSpc>
                <a:spcPct val="115000"/>
              </a:lnSpc>
              <a:spcAft>
                <a:spcPts val="600"/>
              </a:spcAft>
            </a:pPr>
            <a:r>
              <a:rPr sz="1150" b="1">
                <a:solidFill>
                  <a:srgbClr val="202F43"/>
                </a:solidFill>
                <a:latin typeface="Calibri"/>
              </a:rPr>
              <a:t>•  Dataset &amp; Scalability: </a:t>
            </a:r>
            <a:r>
              <a:rPr sz="1150" b="0">
                <a:solidFill>
                  <a:srgbClr val="2A313A"/>
                </a:solidFill>
                <a:latin typeface="Calibri"/>
              </a:rPr>
              <a:t>Evaluated exclusively on static historical US SBA loan tables; operates via one-off individual REST queries.</a:t>
            </a:r>
          </a:p>
          <a:p>
            <a:pPr>
              <a:lnSpc>
                <a:spcPct val="115000"/>
              </a:lnSpc>
              <a:spcAft>
                <a:spcPts val="600"/>
              </a:spcAft>
            </a:pPr>
            <a:r>
              <a:rPr sz="1150" b="1">
                <a:solidFill>
                  <a:srgbClr val="202F43"/>
                </a:solidFill>
                <a:latin typeface="Calibri"/>
              </a:rPr>
              <a:t>•  Task &amp; Risk Granularity: </a:t>
            </a:r>
            <a:r>
              <a:rPr sz="1150" b="0">
                <a:solidFill>
                  <a:srgbClr val="2A313A"/>
                </a:solidFill>
                <a:latin typeface="Calibri"/>
              </a:rPr>
              <a:t>Rigid binary default classification (0 or 1); evaluates only whether a borrower defaults, with no middle tier.</a:t>
            </a:r>
          </a:p>
          <a:p>
            <a:pPr>
              <a:lnSpc>
                <a:spcPct val="115000"/>
              </a:lnSpc>
              <a:spcAft>
                <a:spcPts val="600"/>
              </a:spcAft>
            </a:pPr>
            <a:r>
              <a:rPr sz="1150" b="1">
                <a:solidFill>
                  <a:srgbClr val="202F43"/>
                </a:solidFill>
                <a:latin typeface="Calibri"/>
              </a:rPr>
              <a:t>•  Machine Learning Models: </a:t>
            </a:r>
            <a:r>
              <a:rPr sz="1150" b="0">
                <a:solidFill>
                  <a:srgbClr val="2A313A"/>
                </a:solidFill>
                <a:latin typeface="Calibri"/>
              </a:rPr>
              <a:t>Focuses on XGBoost vs. baseline Logistic Regression (achieving an AUC of 0.9646 and F1 of 0.9115).</a:t>
            </a:r>
          </a:p>
          <a:p>
            <a:pPr>
              <a:lnSpc>
                <a:spcPct val="115000"/>
              </a:lnSpc>
              <a:spcAft>
                <a:spcPts val="600"/>
              </a:spcAft>
            </a:pPr>
            <a:r>
              <a:rPr sz="1150" b="1">
                <a:solidFill>
                  <a:srgbClr val="202F43"/>
                </a:solidFill>
                <a:latin typeface="Calibri"/>
              </a:rPr>
              <a:t>•  Explainability &amp; Simulation: </a:t>
            </a:r>
            <a:r>
              <a:rPr sz="1150" b="0">
                <a:solidFill>
                  <a:srgbClr val="2A313A"/>
                </a:solidFill>
                <a:latin typeface="Calibri"/>
              </a:rPr>
              <a:t>Offline TreeSHAP attribution identifying historical risk drivers; lacks interactive counterfactual What-If simulation.</a:t>
            </a:r>
          </a:p>
          <a:p>
            <a:pPr>
              <a:lnSpc>
                <a:spcPct val="115000"/>
              </a:lnSpc>
              <a:spcAft>
                <a:spcPts val="600"/>
              </a:spcAft>
            </a:pPr>
            <a:r>
              <a:rPr sz="1150" b="1">
                <a:solidFill>
                  <a:srgbClr val="202F43"/>
                </a:solidFill>
                <a:latin typeface="Calibri"/>
              </a:rPr>
              <a:t>•  Architecture &amp; Delivery: </a:t>
            </a:r>
            <a:r>
              <a:rPr sz="1150" b="0">
                <a:solidFill>
                  <a:srgbClr val="2A313A"/>
                </a:solidFill>
                <a:latin typeface="Calibri"/>
              </a:rPr>
              <a:t>Headless REST-based scoring API; lacks an interactive dashboard, decoupled health scoring, and audit reports.</a:t>
            </a:r>
          </a:p>
        </p:txBody>
      </p:sp>
      <p:sp>
        <p:nvSpPr>
          <p:cNvPr id="5" name="Rounded Rectangle 4"/>
          <p:cNvSpPr/>
          <p:nvPr/>
        </p:nvSpPr>
        <p:spPr>
          <a:xfrm>
            <a:off x="6263640" y="1143000"/>
            <a:ext cx="5394960" cy="4480560"/>
          </a:xfrm>
          <a:prstGeom prst="roundRect">
            <a:avLst/>
          </a:prstGeom>
          <a:solidFill>
            <a:srgbClr val="EFF9F7"/>
          </a:solidFill>
          <a:ln>
            <a:solidFill>
              <a:srgbClr val="AAD2C8"/>
            </a:solidFill>
          </a:ln>
        </p:spPr>
        <p:style>
          <a:lnRef idx="1">
            <a:schemeClr val="accent1"/>
          </a:lnRef>
          <a:fillRef idx="3">
            <a:schemeClr val="accent1"/>
          </a:fillRef>
          <a:effectRef idx="2">
            <a:schemeClr val="accent1"/>
          </a:effectRef>
          <a:fontRef idx="minor">
            <a:schemeClr val="lt1"/>
          </a:fontRef>
        </p:style>
        <p:txBody>
          <a:bodyPr rtlCol="0" anchor="t" lIns="76200" rIns="76200" tIns="63500" wrap="square" bIns="50800"/>
          <a:lstStyle/>
          <a:p>
            <a:pPr algn="l">
              <a:lnSpc>
                <a:spcPct val="104000"/>
              </a:lnSpc>
              <a:spcBef>
                <a:spcPts val="0"/>
              </a:spcBef>
              <a:spcAft>
                <a:spcPts val="800"/>
              </a:spcAft>
              <a:defRPr sz="1700" b="1">
                <a:solidFill>
                  <a:srgbClr val="006E69"/>
                </a:solidFill>
                <a:latin typeface="Aptos"/>
              </a:defRPr>
            </a:pPr>
            <a:r>
              <a:rPr sz="1500" b="1">
                <a:solidFill>
                  <a:srgbClr val="202F43"/>
                </a:solidFill>
                <a:latin typeface="Calibri"/>
              </a:rPr>
              <a:t>OUR MSME CREDIT RISK ASSISTANT
</a:t>
            </a:r>
          </a:p>
          <a:p>
            <a:pPr>
              <a:lnSpc>
                <a:spcPct val="115000"/>
              </a:lnSpc>
              <a:spcAft>
                <a:spcPts val="600"/>
              </a:spcAft>
            </a:pPr>
            <a:r>
              <a:rPr sz="1150" b="1">
                <a:solidFill>
                  <a:srgbClr val="202F43"/>
                </a:solidFill>
                <a:latin typeface="Calibri"/>
              </a:rPr>
              <a:t>•  Arbitrary / Infinite Scalability: </a:t>
            </a:r>
            <a:r>
              <a:rPr sz="1150" b="0">
                <a:solidFill>
                  <a:srgbClr val="2A313A"/>
                </a:solidFill>
                <a:latin typeface="Calibri"/>
              </a:rPr>
              <a:t>Engineered for arbitrary/infinite streaming &amp; batch data; evaluates 272,650+ enterprises in ~0.12s via vectorized pipelines.</a:t>
            </a:r>
          </a:p>
          <a:p>
            <a:pPr>
              <a:lnSpc>
                <a:spcPct val="115000"/>
              </a:lnSpc>
              <a:spcAft>
                <a:spcPts val="600"/>
              </a:spcAft>
            </a:pPr>
            <a:r>
              <a:rPr sz="1150" b="1">
                <a:solidFill>
                  <a:srgbClr val="202F43"/>
                </a:solidFill>
                <a:latin typeface="Calibri"/>
              </a:rPr>
              <a:t>•  Granular Multi-Tier Risk: </a:t>
            </a:r>
            <a:r>
              <a:rPr sz="1150" b="0">
                <a:solidFill>
                  <a:srgbClr val="2A313A"/>
                </a:solidFill>
                <a:latin typeface="Calibri"/>
              </a:rPr>
              <a:t>Calibrated 3-tier risk (Low, Medium, High) with 0 catastrophic false negatives (zero defaults misclassified as Low Risk).</a:t>
            </a:r>
          </a:p>
          <a:p>
            <a:pPr>
              <a:lnSpc>
                <a:spcPct val="115000"/>
              </a:lnSpc>
              <a:spcAft>
                <a:spcPts val="600"/>
              </a:spcAft>
            </a:pPr>
            <a:r>
              <a:rPr sz="1150" b="1">
                <a:solidFill>
                  <a:srgbClr val="202F43"/>
                </a:solidFill>
                <a:latin typeface="Calibri"/>
              </a:rPr>
              <a:t>•  4-Model Empirical Benchmark: </a:t>
            </a:r>
            <a:r>
              <a:rPr sz="1150" b="0">
                <a:solidFill>
                  <a:srgbClr val="2A313A"/>
                </a:solidFill>
                <a:latin typeface="Calibri"/>
              </a:rPr>
              <a:t>Compares Logistic Regression, Random Forest, Gradient Boosting &amp; MLP; chooses regularized LR (CV F1: 0.8671).</a:t>
            </a:r>
          </a:p>
          <a:p>
            <a:pPr>
              <a:lnSpc>
                <a:spcPct val="115000"/>
              </a:lnSpc>
              <a:spcAft>
                <a:spcPts val="600"/>
              </a:spcAft>
            </a:pPr>
            <a:r>
              <a:rPr sz="1150" b="1">
                <a:solidFill>
                  <a:srgbClr val="202F43"/>
                </a:solidFill>
                <a:latin typeface="Calibri"/>
              </a:rPr>
              <a:t>•  Interactive What-If Simulation: </a:t>
            </a:r>
            <a:r>
              <a:rPr sz="1150" b="0">
                <a:solidFill>
                  <a:srgbClr val="2A313A"/>
                </a:solidFill>
                <a:latin typeface="Calibri"/>
              </a:rPr>
              <a:t>Real-time SHAP force attributions coupled with dynamic parameter simulation for actionable borrower turnaround.</a:t>
            </a:r>
          </a:p>
          <a:p>
            <a:pPr>
              <a:lnSpc>
                <a:spcPct val="115000"/>
              </a:lnSpc>
              <a:spcAft>
                <a:spcPts val="600"/>
              </a:spcAft>
            </a:pPr>
            <a:r>
              <a:rPr sz="1150" b="1">
                <a:solidFill>
                  <a:srgbClr val="202F43"/>
                </a:solidFill>
                <a:latin typeface="Calibri"/>
              </a:rPr>
              <a:t>•  Decoupled Health &amp; Dual UI: </a:t>
            </a:r>
            <a:r>
              <a:rPr sz="1150" b="0">
                <a:solidFill>
                  <a:srgbClr val="2A313A"/>
                </a:solidFill>
                <a:latin typeface="Calibri"/>
              </a:rPr>
              <a:t>Independent 5-Pillar Health Score (0–100), 9-module interactive Streamlit UI, 3NF SQLite database, and automated audit PDFs.</a:t>
            </a:r>
          </a:p>
        </p:txBody>
      </p:sp>
      <p:sp>
        <p:nvSpPr>
          <p:cNvPr id="6" name="Rounded Rectangle 5"/>
          <p:cNvSpPr/>
          <p:nvPr/>
        </p:nvSpPr>
        <p:spPr>
          <a:xfrm>
            <a:off x="914400" y="5760720"/>
            <a:ext cx="10332720" cy="621792"/>
          </a:xfrm>
          <a:prstGeom prst="roundRect">
            <a:avLst/>
          </a:prstGeom>
          <a:solidFill>
            <a:srgbClr val="FAF5E1"/>
          </a:solidFill>
          <a:ln>
            <a:solidFill>
              <a:srgbClr val="E1CD91"/>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18288"/>
          <a:lstStyle/>
          <a:p>
            <a:pPr algn="ctr">
              <a:spcAft>
                <a:spcPts val="200"/>
              </a:spcAft>
              <a:defRPr sz="1300" b="1">
                <a:solidFill>
                  <a:srgbClr val="504123"/>
                </a:solidFill>
                <a:latin typeface="Aptos"/>
              </a:defRPr>
            </a:pPr>
            <a:r>
              <a:rPr sz="1100" b="1">
                <a:solidFill>
                  <a:srgbClr val="1E3A8A"/>
                </a:solidFill>
                <a:latin typeface="Calibri"/>
              </a:rPr>
              <a:t>KEY ARCHITECTURAL ADVANTAGE: </a:t>
            </a:r>
            <a:r>
              <a:rPr sz="1000" b="0">
                <a:solidFill>
                  <a:srgbClr val="2A313A"/>
                </a:solidFill>
                <a:latin typeface="Calibri"/>
              </a:rPr>
              <a:t>While Gudadhe et al. deploy a static binary REST scorer on historical SBA tables, our system delivers an enterprise-grade platform capable of processing infinite/arbitrary data streams, multi-tier risk, 5-pillar health diagnostics, and closed-loop counterfactual What-If simulations.</a:t>
            </a:r>
          </a:p>
        </p:txBody>
      </p:sp>
      <p:sp>
        <p:nvSpPr>
          <p:cNvPr id="7" name="TextBox 6"/>
          <p:cNvSpPr txBox="1"/>
          <p:nvPr/>
        </p:nvSpPr>
        <p:spPr>
          <a:xfrm>
            <a:off x="548640" y="6519672"/>
            <a:ext cx="10789920" cy="201168"/>
          </a:xfrm>
          <a:prstGeom prst="rect">
            <a:avLst/>
          </a:prstGeom>
          <a:noFill/>
        </p:spPr>
        <p:txBody>
          <a:bodyPr wrap="square">
            <a:spAutoFit/>
          </a:bodyPr>
          <a:lstStyle/>
          <a:p>
            <a:pPr>
              <a:spcAft>
                <a:spcPts val="200"/>
              </a:spcAft>
              <a:defRPr sz="900">
                <a:solidFill>
                  <a:srgbClr val="78828C"/>
                </a:solidFill>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Existing System &amp; Research Gap</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8</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15000"/>
              </a:lnSpc>
              <a:spcBef>
                <a:spcPts val="0"/>
              </a:spcBef>
              <a:spcAft>
                <a:spcPts val="400"/>
              </a:spcAft>
              <a:defRPr sz="1700" b="1">
                <a:solidFill>
                  <a:srgbClr val="2D3746"/>
                </a:solidFill>
                <a:latin typeface="Aptos"/>
              </a:defRPr>
            </a:pPr>
            <a:r>
              <a:t>•  Existing System Approach: Traditional banking relies on physical collateral and audited balance sheets, excluding thin-file MSMEs. Academic models (like Gudadhe et al., 2026) introduce alternative data fusion and SHAP, but operate primarily as offline, binary classifiers.</a:t>
            </a:r>
          </a:p>
          <a:p>
            <a:pPr>
              <a:lnSpc>
                <a:spcPct val="115000"/>
              </a:lnSpc>
              <a:spcAft>
                <a:spcPts val="400"/>
              </a:spcAft>
            </a:pPr>
            <a:r>
              <a:rPr sz="1220" b="1">
                <a:solidFill>
                  <a:srgbClr val="202F43"/>
                </a:solidFill>
                <a:latin typeface="Aptos"/>
              </a:rPr>
              <a:t>•  Gap 1 — Binary vs. Multi-Tier Risk Stratification: </a:t>
            </a:r>
            <a:r>
              <a:rPr sz="1220" b="0">
                <a:solidFill>
                  <a:srgbClr val="2A313A"/>
                </a:solidFill>
                <a:latin typeface="Aptos"/>
              </a:rPr>
              <a:t>Existing models provide blunt binary default predictions (0/1). Real-world commercial lending requires multi-class stratification (Low, Medium, High) to price risk premiums and determine loan covenants.</a:t>
            </a:r>
          </a:p>
          <a:p>
            <a:pPr>
              <a:lnSpc>
                <a:spcPct val="115000"/>
              </a:lnSpc>
              <a:spcAft>
                <a:spcPts val="400"/>
              </a:spcAft>
            </a:pPr>
            <a:r>
              <a:rPr sz="1220" b="1">
                <a:solidFill>
                  <a:srgbClr val="202F43"/>
                </a:solidFill>
                <a:latin typeface="Aptos"/>
              </a:rPr>
              <a:t>•  Gap 2 — Absence of Counterfactual Sensitivity Analysis: </a:t>
            </a:r>
            <a:r>
              <a:rPr sz="1220" b="0">
                <a:solidFill>
                  <a:srgbClr val="2A313A"/>
                </a:solidFill>
                <a:latin typeface="Aptos"/>
              </a:rPr>
              <a:t>The base paper offers static explanations but lacks interactive scenario simulation: rejected borrowers cannot see what financial adjustments (e.g., debt reduction, revenue growth) would make them creditworthy.</a:t>
            </a:r>
          </a:p>
          <a:p>
            <a:pPr>
              <a:lnSpc>
                <a:spcPct val="115000"/>
              </a:lnSpc>
              <a:spcAft>
                <a:spcPts val="400"/>
              </a:spcAft>
            </a:pPr>
            <a:r>
              <a:rPr sz="1220" b="1">
                <a:solidFill>
                  <a:srgbClr val="202F43"/>
                </a:solidFill>
                <a:latin typeface="Aptos"/>
              </a:rPr>
              <a:t>•  Gap 3 — Lack of an Independent Financial Health Benchmark: </a:t>
            </a:r>
            <a:r>
              <a:rPr sz="1220" b="0">
                <a:solidFill>
                  <a:srgbClr val="2A313A"/>
                </a:solidFill>
                <a:latin typeface="Aptos"/>
              </a:rPr>
              <a:t>Existing systems conflate empirical default probability with fundamental accounting health, lacking an objective, deterministic 5-pillar operational score.</a:t>
            </a:r>
          </a:p>
          <a:p>
            <a:pPr>
              <a:lnSpc>
                <a:spcPct val="115000"/>
              </a:lnSpc>
              <a:spcAft>
                <a:spcPts val="400"/>
              </a:spcAft>
            </a:pPr>
            <a:r>
              <a:rPr sz="1220" b="1">
                <a:solidFill>
                  <a:srgbClr val="202F43"/>
                </a:solidFill>
                <a:latin typeface="Aptos"/>
              </a:rPr>
              <a:t>•  Gap 4 — Enterprise Workflow &amp; Reporting Disconnect: </a:t>
            </a:r>
            <a:r>
              <a:rPr sz="1220" b="0">
                <a:solidFill>
                  <a:srgbClr val="2A313A"/>
                </a:solidFill>
                <a:latin typeface="Aptos"/>
              </a:rPr>
              <a:t>Prior systems lack an end-to-end institutional platform combining real-time UI parameter tuning, high-throughput batch evaluation (270k+ rows), SQLite persistence, and audit-ready PDF generation.</a:t>
            </a:r>
          </a:p>
          <a:p>
            <a:pPr>
              <a:lnSpc>
                <a:spcPct val="115000"/>
              </a:lnSpc>
              <a:spcAft>
                <a:spcPts val="400"/>
              </a:spcAft>
            </a:pPr>
            <a:r>
              <a:rPr sz="1220" b="1">
                <a:solidFill>
                  <a:srgbClr val="202F43"/>
                </a:solidFill>
                <a:latin typeface="Aptos"/>
              </a:rPr>
              <a:t>•  How Our Prototype Bridges the Gap: </a:t>
            </a:r>
            <a:r>
              <a:rPr sz="1220" b="0">
                <a:solidFill>
                  <a:srgbClr val="2A313A"/>
                </a:solidFill>
                <a:latin typeface="Aptos"/>
              </a:rPr>
              <a:t>We synthesize multi-class ML, game-theoretic SHAP, a 5-pillar health score, and an interactive What-If simulator into a production-grade, zero-leakage Streamlit decision-support platform.</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Proposed System</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9</a:t>
            </a:r>
          </a:p>
        </p:txBody>
      </p:sp>
      <p:sp>
        <p:nvSpPr>
          <p:cNvPr id="7" name="TextBox 6"/>
          <p:cNvSpPr txBox="1"/>
          <p:nvPr/>
        </p:nvSpPr>
        <p:spPr>
          <a:xfrm>
            <a:off x="822960" y="1325880"/>
            <a:ext cx="5200000" cy="4754880"/>
          </a:xfrm>
          <a:prstGeom prst="rect">
            <a:avLst/>
          </a:prstGeom>
          <a:noFill/>
        </p:spPr>
        <p:txBody>
          <a:bodyPr wrap="square" lIns="76200" rIns="76200" tIns="63500" bIns="50800">
            <a:spAutoFit/>
          </a:bodyPr>
          <a:lstStyle/>
          <a:p>
            <a:pPr>
              <a:lnSpc>
                <a:spcPct val="115000"/>
              </a:lnSpc>
              <a:spcBef>
                <a:spcPts val="0"/>
              </a:spcBef>
              <a:spcAft>
                <a:spcPts val="300"/>
              </a:spcAft>
              <a:defRPr sz="1200" b="1">
                <a:solidFill>
                  <a:srgbClr val="1E293B"/>
                </a:solidFill>
                <a:latin typeface="Arial"/>
              </a:defRPr>
            </a:pPr>
            <a:r>
              <a:rPr sz="1200" b="1">
                <a:solidFill>
                  <a:srgbClr val="202F43"/>
                </a:solidFill>
                <a:latin typeface="Aptos"/>
              </a:rPr>
              <a:t>•  End-to-End Closed-Loop Paradigm: </a:t>
            </a:r>
            <a:r>
              <a:rPr sz="1200" b="0">
                <a:solidFill>
                  <a:srgbClr val="2A313A"/>
                </a:solidFill>
                <a:latin typeface="Aptos"/>
              </a:rPr>
              <a:t>Operates on the PREDICT → EXPLAIN → SIMULATE → IMPROVE workflow, transforming credit assessment from an opaque, terminal rejection into a transparent, actionable financial roadmap.</a:t>
            </a:r>
          </a:p>
          <a:p>
            <a:pPr>
              <a:lnSpc>
                <a:spcPct val="115000"/>
              </a:lnSpc>
              <a:spcAft>
                <a:spcPts val="300"/>
              </a:spcAft>
            </a:pPr>
            <a:r>
              <a:rPr sz="1200" b="1">
                <a:solidFill>
                  <a:srgbClr val="202F43"/>
                </a:solidFill>
                <a:latin typeface="Aptos"/>
              </a:rPr>
              <a:t>•  1. PREDICT — Multi-Class Risk Inference: </a:t>
            </a:r>
            <a:r>
              <a:rPr sz="1200" b="0">
                <a:solidFill>
                  <a:srgbClr val="2A313A"/>
                </a:solidFill>
                <a:latin typeface="Aptos"/>
              </a:rPr>
              <a:t>Calculates 7 engineered ratios (DTI, Profit Margin, LTI, Cash Flow Coverage) with zero-division safeguards; outputs calibrated probabilities across LOW, MEDIUM, and HIGH risk tiers with 0 High Risk misclassifications into Low Risk.</a:t>
            </a:r>
          </a:p>
          <a:p>
            <a:pPr>
              <a:lnSpc>
                <a:spcPct val="115000"/>
              </a:lnSpc>
              <a:spcAft>
                <a:spcPts val="300"/>
              </a:spcAft>
            </a:pPr>
            <a:r>
              <a:rPr sz="1200" b="1">
                <a:solidFill>
                  <a:srgbClr val="202F43"/>
                </a:solidFill>
                <a:latin typeface="Aptos"/>
              </a:rPr>
              <a:t>•  2. EXPLAIN — Game-Theoretic SHAP XAI: </a:t>
            </a:r>
            <a:r>
              <a:rPr sz="1200" b="0">
                <a:solidFill>
                  <a:srgbClr val="2A313A"/>
                </a:solidFill>
                <a:latin typeface="Aptos"/>
              </a:rPr>
              <a:t>Decomposes predictions into signed Shapley attributions, isolating Risk Amplifiers (pushing toward High Risk) and Risk Mitigators (lowering risk) to satisfy RBI Fair Lending rules.</a:t>
            </a:r>
          </a:p>
          <a:p>
            <a:pPr>
              <a:lnSpc>
                <a:spcPct val="115000"/>
              </a:lnSpc>
              <a:spcAft>
                <a:spcPts val="300"/>
              </a:spcAft>
            </a:pPr>
            <a:r>
              <a:rPr sz="1200" b="1">
                <a:solidFill>
                  <a:srgbClr val="202F43"/>
                </a:solidFill>
                <a:latin typeface="Aptos"/>
              </a:rPr>
              <a:t>•  3. SIMULATE — What-If Scenario Engine: </a:t>
            </a:r>
            <a:r>
              <a:rPr sz="1200" b="0">
                <a:solidFill>
                  <a:srgbClr val="2A313A"/>
                </a:solidFill>
                <a:latin typeface="Aptos"/>
              </a:rPr>
              <a:t>Allows users to adjust financial sliders (e.g., reducing debt by ₹10 Lakh) and computes instantaneous probability and health score deltas without model retraining.</a:t>
            </a:r>
          </a:p>
          <a:p>
            <a:pPr>
              <a:lnSpc>
                <a:spcPct val="115000"/>
              </a:lnSpc>
              <a:spcAft>
                <a:spcPts val="300"/>
              </a:spcAft>
            </a:pPr>
            <a:r>
              <a:rPr sz="1200" b="1">
                <a:solidFill>
                  <a:srgbClr val="202F43"/>
                </a:solidFill>
                <a:latin typeface="Aptos"/>
              </a:rPr>
              <a:t>•  4. IMPROVE — 5-Pillar Health Scorecard: </a:t>
            </a:r>
            <a:r>
              <a:rPr sz="1200" b="0">
                <a:solidFill>
                  <a:srgbClr val="2A313A"/>
                </a:solidFill>
                <a:latin typeface="Aptos"/>
              </a:rPr>
              <a:t>Deterministic 0–100 index across Debt Management (25 pts), Liquidity (25 pts), Profitability (20 pts), Repayment (20 pts), and Stability (10 pts) with assigned letter grades and turnaround tips.</a:t>
            </a:r>
          </a:p>
          <a:p>
            <a:pPr>
              <a:lnSpc>
                <a:spcPct val="115000"/>
              </a:lnSpc>
              <a:spcAft>
                <a:spcPts val="300"/>
              </a:spcAft>
            </a:pPr>
            <a:r>
              <a:rPr sz="1200" b="1">
                <a:solidFill>
                  <a:srgbClr val="202F43"/>
                </a:solidFill>
                <a:latin typeface="Aptos"/>
              </a:rPr>
              <a:t>•  Record &amp; Institutional Reporting: </a:t>
            </a:r>
            <a:r>
              <a:rPr sz="1200" b="0">
                <a:solidFill>
                  <a:srgbClr val="2A313A"/>
                </a:solidFill>
                <a:latin typeface="Aptos"/>
              </a:rPr>
              <a:t>Full SQLite 3NF relational database schema for audit tracking and dynamic, multi-page ReportLab PDF report generation for credit committees.</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pic>
        <p:nvPicPr>
          <p:cNvPr id="9" name="Picture 8" descr="diag1_proposed_paradigm.png"/>
          <p:cNvPicPr>
            <a:picLocks noChangeAspect="1"/>
          </p:cNvPicPr>
          <p:nvPr/>
        </p:nvPicPr>
        <p:blipFill>
          <a:blip r:embed="rId2"/>
          <a:stretch>
            <a:fillRect/>
          </a:stretch>
        </p:blipFill>
        <p:spPr>
          <a:xfrm>
            <a:off x="6200000" y="1350000"/>
            <a:ext cx="5300000" cy="470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System Architecture / Block Diagram</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10</a:t>
            </a:r>
          </a:p>
        </p:txBody>
      </p:sp>
      <p:sp>
        <p:nvSpPr>
          <p:cNvPr id="7" name="TextBox 6"/>
          <p:cNvSpPr txBox="1"/>
          <p:nvPr/>
        </p:nvSpPr>
        <p:spPr>
          <a:xfrm>
            <a:off x="822960" y="1325880"/>
            <a:ext cx="5200000" cy="4754880"/>
          </a:xfrm>
          <a:prstGeom prst="rect">
            <a:avLst/>
          </a:prstGeom>
          <a:noFill/>
        </p:spPr>
        <p:txBody>
          <a:bodyPr wrap="square" lIns="76200" rIns="76200" tIns="63500" bIns="50800">
            <a:spAutoFit/>
          </a:bodyPr>
          <a:lstStyle/>
          <a:p>
            <a:pPr>
              <a:lnSpc>
                <a:spcPct val="104000"/>
              </a:lnSpc>
              <a:spcBef>
                <a:spcPts val="0"/>
              </a:spcBef>
              <a:spcAft>
                <a:spcPts val="700"/>
              </a:spcAft>
              <a:defRPr sz="1200" b="1">
                <a:solidFill>
                  <a:srgbClr val="1E293B"/>
                </a:solidFill>
                <a:latin typeface="Arial"/>
              </a:defRPr>
            </a:pPr>
            <a:r>
              <a:rPr sz="1240" b="1">
                <a:solidFill>
                  <a:srgbClr val="202F43"/>
                </a:solidFill>
                <a:latin typeface="Aptos"/>
              </a:rPr>
              <a:t>•  1. Presentation Layer: </a:t>
            </a:r>
            <a:r>
              <a:rPr sz="1240">
                <a:solidFill>
                  <a:srgbClr val="2A313A"/>
                </a:solidFill>
                <a:latin typeface="Aptos"/>
              </a:rPr>
              <a:t>Streamlit provides the multi-page interface for entering MSME details, viewing risk results, exploring financial-health indicators and adjusting What-If inputs.</a:t>
            </a:r>
          </a:p>
          <a:p>
            <a:pPr>
              <a:lnSpc>
                <a:spcPct val="104000"/>
              </a:lnSpc>
              <a:spcBef>
                <a:spcPts val="0"/>
              </a:spcBef>
              <a:spcAft>
                <a:spcPts val="700"/>
              </a:spcAft>
            </a:pPr>
            <a:r>
              <a:rPr sz="1240" b="1">
                <a:solidFill>
                  <a:srgbClr val="202F43"/>
                </a:solidFill>
                <a:latin typeface="Aptos"/>
              </a:rPr>
              <a:t>•  2. Feature &amp; Inference Layer: </a:t>
            </a:r>
            <a:r>
              <a:rPr sz="1240">
                <a:solidFill>
                  <a:srgbClr val="2A313A"/>
                </a:solidFill>
                <a:latin typeface="Aptos"/>
              </a:rPr>
              <a:t>The pipeline validates and preprocesses inputs, handles missing values and scales numeric features where required. Engineered ratios translate raw values into interpretable financial indicators.</a:t>
            </a:r>
          </a:p>
          <a:p>
            <a:pPr>
              <a:lnSpc>
                <a:spcPct val="104000"/>
              </a:lnSpc>
              <a:spcBef>
                <a:spcPts val="0"/>
              </a:spcBef>
              <a:spcAft>
                <a:spcPts val="700"/>
              </a:spcAft>
            </a:pPr>
            <a:r>
              <a:rPr sz="1240" b="1">
                <a:solidFill>
                  <a:srgbClr val="202F43"/>
                </a:solidFill>
                <a:latin typeface="Aptos"/>
              </a:rPr>
              <a:t>•  3. Machine-Learning Layer: </a:t>
            </a:r>
            <a:r>
              <a:rPr sz="1240">
                <a:solidFill>
                  <a:srgbClr val="2A313A"/>
                </a:solidFill>
                <a:latin typeface="Aptos"/>
              </a:rPr>
              <a:t>The selected Logistic Regression model produces the risk classification. Model comparison and held-out evaluation inform the current choice; the model should be re-evaluated when representative new data becomes available.</a:t>
            </a:r>
          </a:p>
          <a:p>
            <a:pPr>
              <a:lnSpc>
                <a:spcPct val="104000"/>
              </a:lnSpc>
              <a:spcBef>
                <a:spcPts val="0"/>
              </a:spcBef>
              <a:spcAft>
                <a:spcPts val="700"/>
              </a:spcAft>
            </a:pPr>
            <a:r>
              <a:rPr sz="1240" b="1">
                <a:solidFill>
                  <a:srgbClr val="202F43"/>
                </a:solidFill>
                <a:latin typeface="Aptos"/>
              </a:rPr>
              <a:t>•  4. Explainability &amp; Simulation: </a:t>
            </a:r>
            <a:r>
              <a:rPr sz="1240">
                <a:solidFill>
                  <a:srgbClr val="2A313A"/>
                </a:solidFill>
                <a:latin typeface="Aptos"/>
              </a:rPr>
              <a:t>SHAP highlights influential features for a prediction. The scenario component recalculates selected indicators and reruns the assessment for changed inputs.</a:t>
            </a:r>
          </a:p>
          <a:p>
            <a:pPr>
              <a:lnSpc>
                <a:spcPct val="104000"/>
              </a:lnSpc>
              <a:spcBef>
                <a:spcPts val="0"/>
              </a:spcBef>
              <a:spcAft>
                <a:spcPts val="700"/>
              </a:spcAft>
            </a:pPr>
            <a:r>
              <a:rPr sz="1240" b="1">
                <a:solidFill>
                  <a:srgbClr val="202F43"/>
                </a:solidFill>
                <a:latin typeface="Aptos"/>
              </a:rPr>
              <a:t>•  5. Storage &amp; Reporting Layer: </a:t>
            </a:r>
            <a:r>
              <a:rPr sz="1240">
                <a:solidFill>
                  <a:srgbClr val="2A313A"/>
                </a:solidFill>
                <a:latin typeface="Aptos"/>
              </a:rPr>
              <a:t>SQLite persists business and assessment records, while ReportLab generates downloadable PDF summaries. The layers keep the user interface, prediction logic and stored records logically separated.</a:t>
            </a:r>
          </a:p>
          <a:p>
            <a:pPr>
              <a:lnSpc>
                <a:spcPct val="104000"/>
              </a:lnSpc>
              <a:spcBef>
                <a:spcPts val="0"/>
              </a:spcBef>
              <a:spcAft>
                <a:spcPts val="700"/>
              </a:spcAft>
            </a:pPr>
            <a:r>
              <a:rPr sz="1240" b="1">
                <a:solidFill>
                  <a:srgbClr val="202F43"/>
                </a:solidFill>
                <a:latin typeface="Aptos"/>
              </a:rPr>
              <a:t>•  Data flow: </a:t>
            </a:r>
            <a:r>
              <a:rPr sz="1240">
                <a:solidFill>
                  <a:srgbClr val="2A313A"/>
                </a:solidFill>
                <a:latin typeface="Aptos"/>
              </a:rPr>
              <a:t>User input → validation/preprocessing → financial-ratio engineering → model inference → SHAP/health score → dashboard, scenario comparison and saved report.</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pic>
        <p:nvPicPr>
          <p:cNvPr id="9" name="Picture 8" descr="diag2_architecture.png"/>
          <p:cNvPicPr>
            <a:picLocks noChangeAspect="1"/>
          </p:cNvPicPr>
          <p:nvPr/>
        </p:nvPicPr>
        <p:blipFill>
          <a:blip r:embed="rId2"/>
          <a:stretch>
            <a:fillRect/>
          </a:stretch>
        </p:blipFill>
        <p:spPr>
          <a:xfrm>
            <a:off x="6200000" y="1350000"/>
            <a:ext cx="5300000" cy="470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Methodology / Workflow</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11</a:t>
            </a:r>
          </a:p>
        </p:txBody>
      </p:sp>
      <p:sp>
        <p:nvSpPr>
          <p:cNvPr id="7" name="TextBox 6"/>
          <p:cNvSpPr txBox="1"/>
          <p:nvPr/>
        </p:nvSpPr>
        <p:spPr>
          <a:xfrm>
            <a:off x="822960" y="1325880"/>
            <a:ext cx="5200000" cy="4754880"/>
          </a:xfrm>
          <a:prstGeom prst="rect">
            <a:avLst/>
          </a:prstGeom>
          <a:noFill/>
        </p:spPr>
        <p:txBody>
          <a:bodyPr wrap="square" lIns="76200" rIns="76200" tIns="63500" bIns="50800">
            <a:spAutoFit/>
          </a:bodyPr>
          <a:lstStyle/>
          <a:p>
            <a:pPr>
              <a:lnSpc>
                <a:spcPct val="104000"/>
              </a:lnSpc>
              <a:spcBef>
                <a:spcPts val="0"/>
              </a:spcBef>
              <a:spcAft>
                <a:spcPts val="700"/>
              </a:spcAft>
              <a:defRPr sz="1200" b="1">
                <a:solidFill>
                  <a:srgbClr val="1E293B"/>
                </a:solidFill>
                <a:latin typeface="Arial"/>
              </a:defRPr>
            </a:pPr>
            <a:r>
              <a:rPr sz="1240" b="1">
                <a:solidFill>
                  <a:srgbClr val="202F43"/>
                </a:solidFill>
                <a:latin typeface="Aptos"/>
              </a:rPr>
              <a:t>•  Step 1 — Synthetic data generation: </a:t>
            </a:r>
            <a:r>
              <a:rPr sz="1240">
                <a:solidFill>
                  <a:srgbClr val="2A313A"/>
                </a:solidFill>
                <a:latin typeface="Aptos"/>
              </a:rPr>
              <a:t>Create 1,500 simulated MSME records with financial and business indicators. The dataset supports controlled development and testing but does not substitute for observed lending outcomes.</a:t>
            </a:r>
          </a:p>
          <a:p>
            <a:pPr>
              <a:lnSpc>
                <a:spcPct val="104000"/>
              </a:lnSpc>
              <a:spcBef>
                <a:spcPts val="0"/>
              </a:spcBef>
              <a:spcAft>
                <a:spcPts val="700"/>
              </a:spcAft>
            </a:pPr>
            <a:r>
              <a:rPr sz="1240" b="1">
                <a:solidFill>
                  <a:srgbClr val="202F43"/>
                </a:solidFill>
                <a:latin typeface="Aptos"/>
              </a:rPr>
              <a:t>•  Step 2 — Data preparation: </a:t>
            </a:r>
            <a:r>
              <a:rPr sz="1240">
                <a:solidFill>
                  <a:srgbClr val="2A313A"/>
                </a:solidFill>
                <a:latin typeface="Aptos"/>
              </a:rPr>
              <a:t>Check data types and invalid values, impute missing values where required, and scale numeric features within a pipeline so transformations are learned from training data only.</a:t>
            </a:r>
          </a:p>
          <a:p>
            <a:pPr>
              <a:lnSpc>
                <a:spcPct val="104000"/>
              </a:lnSpc>
              <a:spcBef>
                <a:spcPts val="0"/>
              </a:spcBef>
              <a:spcAft>
                <a:spcPts val="700"/>
              </a:spcAft>
            </a:pPr>
            <a:r>
              <a:rPr sz="1240" b="1">
                <a:solidFill>
                  <a:srgbClr val="202F43"/>
                </a:solidFill>
                <a:latin typeface="Aptos"/>
              </a:rPr>
              <a:t>•  Step 3 — Feature engineering: </a:t>
            </a:r>
            <a:r>
              <a:rPr sz="1240">
                <a:solidFill>
                  <a:srgbClr val="2A313A"/>
                </a:solidFill>
                <a:latin typeface="Aptos"/>
              </a:rPr>
              <a:t>Derive debt-to-income/revenue, profit margin, loan-to-income and cash-flow coverage. Add zero-division safeguards so extreme or undefined ratios do not silently corrupt the model input.</a:t>
            </a:r>
          </a:p>
          <a:p>
            <a:pPr>
              <a:lnSpc>
                <a:spcPct val="104000"/>
              </a:lnSpc>
              <a:spcBef>
                <a:spcPts val="0"/>
              </a:spcBef>
              <a:spcAft>
                <a:spcPts val="700"/>
              </a:spcAft>
            </a:pPr>
            <a:r>
              <a:rPr sz="1240" b="1">
                <a:solidFill>
                  <a:srgbClr val="202F43"/>
                </a:solidFill>
                <a:latin typeface="Aptos"/>
              </a:rPr>
              <a:t>•  Step 4 — Split and validation: </a:t>
            </a:r>
            <a:r>
              <a:rPr sz="1240">
                <a:solidFill>
                  <a:srgbClr val="2A313A"/>
                </a:solidFill>
                <a:latin typeface="Aptos"/>
              </a:rPr>
              <a:t>Use a stratified 80/20 train-test split (1,200 training and 300 test records). Keep the test set aside for final evaluation rather than using it to choose preprocessing or model settings.</a:t>
            </a:r>
          </a:p>
          <a:p>
            <a:pPr>
              <a:lnSpc>
                <a:spcPct val="104000"/>
              </a:lnSpc>
              <a:spcBef>
                <a:spcPts val="0"/>
              </a:spcBef>
              <a:spcAft>
                <a:spcPts val="700"/>
              </a:spcAft>
            </a:pPr>
            <a:r>
              <a:rPr sz="1240" b="1">
                <a:solidFill>
                  <a:srgbClr val="202F43"/>
                </a:solidFill>
                <a:latin typeface="Aptos"/>
              </a:rPr>
              <a:t>•  Step 5 — Model comparison: </a:t>
            </a:r>
            <a:r>
              <a:rPr sz="1240">
                <a:solidFill>
                  <a:srgbClr val="2A313A"/>
                </a:solidFill>
                <a:latin typeface="Aptos"/>
              </a:rPr>
              <a:t>Benchmark Logistic Regression, Decision Tree and Random Forest using cross-validation. Where resampling is evaluated, apply SMOTE/ADASYN only inside the training folds to avoid validation leakage.</a:t>
            </a:r>
          </a:p>
          <a:p>
            <a:pPr>
              <a:lnSpc>
                <a:spcPct val="104000"/>
              </a:lnSpc>
              <a:spcBef>
                <a:spcPts val="0"/>
              </a:spcBef>
              <a:spcAft>
                <a:spcPts val="700"/>
              </a:spcAft>
            </a:pPr>
            <a:r>
              <a:rPr sz="1240" b="1">
                <a:solidFill>
                  <a:srgbClr val="202F43"/>
                </a:solidFill>
                <a:latin typeface="Aptos"/>
              </a:rPr>
              <a:t>•  Step 6 — Explain and present: </a:t>
            </a:r>
            <a:r>
              <a:rPr sz="1240">
                <a:solidFill>
                  <a:srgbClr val="2A313A"/>
                </a:solidFill>
                <a:latin typeface="Aptos"/>
              </a:rPr>
              <a:t>Evaluate the selected model on the held-out test set, generate SHAP explanations, calculate the five-pillar health score, and connect the outputs to the dashboard, What-If simulator and report generator.</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pic>
        <p:nvPicPr>
          <p:cNvPr id="9" name="Picture 8" descr="diag3_methodology.png"/>
          <p:cNvPicPr>
            <a:picLocks noChangeAspect="1"/>
          </p:cNvPicPr>
          <p:nvPr/>
        </p:nvPicPr>
        <p:blipFill>
          <a:blip r:embed="rId2"/>
          <a:stretch>
            <a:fillRect/>
          </a:stretch>
        </p:blipFill>
        <p:spPr>
          <a:xfrm>
            <a:off x="6200000" y="1350000"/>
            <a:ext cx="5300000" cy="47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Technology Stack &amp; Tools</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12</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700"/>
              </a:spcAft>
              <a:defRPr sz="1400" b="1">
                <a:solidFill>
                  <a:srgbClr val="1E293B"/>
                </a:solidFill>
                <a:latin typeface="Arial"/>
              </a:defRPr>
            </a:pPr>
            <a:r>
              <a:rPr sz="1300" b="1">
                <a:solidFill>
                  <a:srgbClr val="202F43"/>
                </a:solidFill>
                <a:latin typeface="Aptos"/>
              </a:rPr>
              <a:t>•  Programming &amp; data handling: </a:t>
            </a:r>
            <a:r>
              <a:rPr sz="1300">
                <a:solidFill>
                  <a:srgbClr val="2A313A"/>
                </a:solidFill>
                <a:latin typeface="Aptos"/>
              </a:rPr>
              <a:t>Python is used for data preparation, feature engineering, model training and application logic. Pandas and NumPy support tabular manipulation and numerical calculations.</a:t>
            </a:r>
          </a:p>
          <a:p>
            <a:pPr>
              <a:lnSpc>
                <a:spcPct val="104000"/>
              </a:lnSpc>
              <a:spcBef>
                <a:spcPts val="0"/>
              </a:spcBef>
              <a:spcAft>
                <a:spcPts val="700"/>
              </a:spcAft>
            </a:pPr>
            <a:r>
              <a:rPr sz="1300" b="1">
                <a:solidFill>
                  <a:srgbClr val="202F43"/>
                </a:solidFill>
                <a:latin typeface="Aptos"/>
              </a:rPr>
              <a:t>•  Machine learning: </a:t>
            </a:r>
            <a:r>
              <a:rPr sz="1300">
                <a:solidFill>
                  <a:srgbClr val="2A313A"/>
                </a:solidFill>
                <a:latin typeface="Aptos"/>
              </a:rPr>
              <a:t>Scikit-learn provides preprocessing pipelines, train-test splitting, cross-validation, model comparison and Logistic Regression inference. Imbalanced-learn supports SMOTE/ADASYN experiments where configured.</a:t>
            </a:r>
          </a:p>
          <a:p>
            <a:pPr>
              <a:lnSpc>
                <a:spcPct val="104000"/>
              </a:lnSpc>
              <a:spcBef>
                <a:spcPts val="0"/>
              </a:spcBef>
              <a:spcAft>
                <a:spcPts val="700"/>
              </a:spcAft>
            </a:pPr>
            <a:r>
              <a:rPr sz="1300" b="1">
                <a:solidFill>
                  <a:srgbClr val="202F43"/>
                </a:solidFill>
                <a:latin typeface="Aptos"/>
              </a:rPr>
              <a:t>•  Explainable AI: </a:t>
            </a:r>
            <a:r>
              <a:rPr sz="1300">
                <a:solidFill>
                  <a:srgbClr val="2A313A"/>
                </a:solidFill>
                <a:latin typeface="Aptos"/>
              </a:rPr>
              <a:t>SHAP (SHapley Additive exPlanations) attributes model predictions to input features, helping users inspect the main factors associated with a risk estimate.</a:t>
            </a:r>
          </a:p>
          <a:p>
            <a:pPr>
              <a:lnSpc>
                <a:spcPct val="104000"/>
              </a:lnSpc>
              <a:spcBef>
                <a:spcPts val="0"/>
              </a:spcBef>
              <a:spcAft>
                <a:spcPts val="700"/>
              </a:spcAft>
            </a:pPr>
            <a:r>
              <a:rPr sz="1300" b="1">
                <a:solidFill>
                  <a:srgbClr val="202F43"/>
                </a:solidFill>
                <a:latin typeface="Aptos"/>
              </a:rPr>
              <a:t>•  Dashboard &amp; charts: </a:t>
            </a:r>
            <a:r>
              <a:rPr sz="1300">
                <a:solidFill>
                  <a:srgbClr val="2A313A"/>
                </a:solidFill>
                <a:latin typeface="Aptos"/>
              </a:rPr>
              <a:t>Streamlit delivers the interactive multi-page web interface; Plotly supports financial-health gauges, comparative charts and other interactive visualizations.</a:t>
            </a:r>
          </a:p>
          <a:p>
            <a:pPr>
              <a:lnSpc>
                <a:spcPct val="104000"/>
              </a:lnSpc>
              <a:spcBef>
                <a:spcPts val="0"/>
              </a:spcBef>
              <a:spcAft>
                <a:spcPts val="700"/>
              </a:spcAft>
            </a:pPr>
            <a:r>
              <a:rPr sz="1300" b="1">
                <a:solidFill>
                  <a:srgbClr val="202F43"/>
                </a:solidFill>
                <a:latin typeface="Aptos"/>
              </a:rPr>
              <a:t>•  Persistence &amp; reports: </a:t>
            </a:r>
            <a:r>
              <a:rPr sz="1300">
                <a:solidFill>
                  <a:srgbClr val="2A313A"/>
                </a:solidFill>
                <a:latin typeface="Aptos"/>
              </a:rPr>
              <a:t>SQLite stores assessment history locally. ReportLab is used to create downloadable PDF assessment summaries.</a:t>
            </a:r>
          </a:p>
          <a:p>
            <a:pPr>
              <a:lnSpc>
                <a:spcPct val="104000"/>
              </a:lnSpc>
              <a:spcBef>
                <a:spcPts val="0"/>
              </a:spcBef>
              <a:spcAft>
                <a:spcPts val="700"/>
              </a:spcAft>
            </a:pPr>
            <a:r>
              <a:rPr sz="1300" b="1">
                <a:solidFill>
                  <a:srgbClr val="202F43"/>
                </a:solidFill>
                <a:latin typeface="Aptos"/>
              </a:rPr>
              <a:t>•  Quality assurance: </a:t>
            </a:r>
            <a:r>
              <a:rPr sz="1300">
                <a:solidFill>
                  <a:srgbClr val="2A313A"/>
                </a:solidFill>
                <a:latin typeface="Aptos"/>
              </a:rPr>
              <a:t>PyTest checks core calculations, preprocessing behaviour, inference and scenario logic. Tests reduce regression risk but do not prove the system is suitable for real-world lending without broader validation.</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System Design / UML</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13</a:t>
            </a:r>
          </a:p>
        </p:txBody>
      </p:sp>
      <p:sp>
        <p:nvSpPr>
          <p:cNvPr id="7" name="TextBox 6"/>
          <p:cNvSpPr txBox="1"/>
          <p:nvPr/>
        </p:nvSpPr>
        <p:spPr>
          <a:xfrm>
            <a:off x="822960" y="1325880"/>
            <a:ext cx="5200000" cy="4754880"/>
          </a:xfrm>
          <a:prstGeom prst="rect">
            <a:avLst/>
          </a:prstGeom>
          <a:noFill/>
        </p:spPr>
        <p:txBody>
          <a:bodyPr wrap="square" lIns="76200" rIns="76200" tIns="63500" bIns="50800">
            <a:spAutoFit/>
          </a:bodyPr>
          <a:lstStyle/>
          <a:p>
            <a:pPr>
              <a:lnSpc>
                <a:spcPct val="104000"/>
              </a:lnSpc>
              <a:spcBef>
                <a:spcPts val="0"/>
              </a:spcBef>
              <a:spcAft>
                <a:spcPts val="700"/>
              </a:spcAft>
              <a:defRPr sz="1200" b="1">
                <a:solidFill>
                  <a:srgbClr val="1E293B"/>
                </a:solidFill>
                <a:latin typeface="Arial"/>
              </a:defRPr>
            </a:pPr>
            <a:r>
              <a:rPr sz="1240" b="1">
                <a:solidFill>
                  <a:srgbClr val="202F43"/>
                </a:solidFill>
                <a:latin typeface="Aptos"/>
              </a:rPr>
              <a:t>•  Relational design: </a:t>
            </a:r>
            <a:r>
              <a:rPr sz="1240">
                <a:solidFill>
                  <a:srgbClr val="2A313A"/>
                </a:solidFill>
                <a:latin typeface="Aptos"/>
              </a:rPr>
              <a:t>The database separates business identity, financial inputs and prediction history instead of keeping all information in a single repeated record.</a:t>
            </a:r>
          </a:p>
          <a:p>
            <a:pPr>
              <a:lnSpc>
                <a:spcPct val="104000"/>
              </a:lnSpc>
              <a:spcBef>
                <a:spcPts val="0"/>
              </a:spcBef>
              <a:spcAft>
                <a:spcPts val="700"/>
              </a:spcAft>
            </a:pPr>
            <a:r>
              <a:rPr sz="1240" b="1">
                <a:solidFill>
                  <a:srgbClr val="202F43"/>
                </a:solidFill>
                <a:latin typeface="Aptos"/>
              </a:rPr>
              <a:t>•  Businesses table: </a:t>
            </a:r>
            <a:r>
              <a:rPr sz="1240">
                <a:solidFill>
                  <a:srgbClr val="2A313A"/>
                </a:solidFill>
                <a:latin typeface="Aptos"/>
              </a:rPr>
              <a:t>Stores the business-level master record, including its identifier and core profile fields. The business identifier acts as the primary key.</a:t>
            </a:r>
          </a:p>
          <a:p>
            <a:pPr>
              <a:lnSpc>
                <a:spcPct val="104000"/>
              </a:lnSpc>
              <a:spcBef>
                <a:spcPts val="0"/>
              </a:spcBef>
              <a:spcAft>
                <a:spcPts val="700"/>
              </a:spcAft>
            </a:pPr>
            <a:r>
              <a:rPr sz="1240" b="1">
                <a:solidFill>
                  <a:srgbClr val="202F43"/>
                </a:solidFill>
                <a:latin typeface="Aptos"/>
              </a:rPr>
              <a:t>•  Financial data table: </a:t>
            </a:r>
            <a:r>
              <a:rPr sz="1240">
                <a:solidFill>
                  <a:srgbClr val="2A313A"/>
                </a:solidFill>
                <a:latin typeface="Aptos"/>
              </a:rPr>
              <a:t>Stores financial indicators associated with a business. A business can have related financial records, allowing the data model to separate profile information from changing assessments.</a:t>
            </a:r>
          </a:p>
          <a:p>
            <a:pPr>
              <a:lnSpc>
                <a:spcPct val="104000"/>
              </a:lnSpc>
              <a:spcBef>
                <a:spcPts val="0"/>
              </a:spcBef>
              <a:spcAft>
                <a:spcPts val="700"/>
              </a:spcAft>
            </a:pPr>
            <a:r>
              <a:rPr sz="1240" b="1">
                <a:solidFill>
                  <a:srgbClr val="202F43"/>
                </a:solidFill>
                <a:latin typeface="Aptos"/>
              </a:rPr>
              <a:t>•  Predictions table: </a:t>
            </a:r>
            <a:r>
              <a:rPr sz="1240">
                <a:solidFill>
                  <a:srgbClr val="2A313A"/>
                </a:solidFill>
                <a:latin typeface="Aptos"/>
              </a:rPr>
              <a:t>Stores risk category, class probabilities, health score and assessment snapshot so previous results can be reviewed instead of being overwritten by the latest prediction.</a:t>
            </a:r>
          </a:p>
          <a:p>
            <a:pPr>
              <a:lnSpc>
                <a:spcPct val="104000"/>
              </a:lnSpc>
              <a:spcBef>
                <a:spcPts val="0"/>
              </a:spcBef>
              <a:spcAft>
                <a:spcPts val="700"/>
              </a:spcAft>
            </a:pPr>
            <a:r>
              <a:rPr sz="1240" b="1">
                <a:solidFill>
                  <a:srgbClr val="202F43"/>
                </a:solidFill>
                <a:latin typeface="Aptos"/>
              </a:rPr>
              <a:t>•  Integrity &amp; safety: </a:t>
            </a:r>
            <a:r>
              <a:rPr sz="1240">
                <a:solidFill>
                  <a:srgbClr val="2A313A"/>
                </a:solidFill>
                <a:latin typeface="Aptos"/>
              </a:rPr>
              <a:t>Primary/foreign keys maintain relationships between records. Parameterized SQL queries reduce SQL-injection risk, while structured storage supports a traceable local assessment history.</a:t>
            </a:r>
          </a:p>
          <a:p>
            <a:pPr>
              <a:lnSpc>
                <a:spcPct val="104000"/>
              </a:lnSpc>
              <a:spcBef>
                <a:spcPts val="0"/>
              </a:spcBef>
              <a:spcAft>
                <a:spcPts val="700"/>
              </a:spcAft>
            </a:pPr>
            <a:r>
              <a:rPr sz="1240" b="1">
                <a:solidFill>
                  <a:srgbClr val="202F43"/>
                </a:solidFill>
                <a:latin typeface="Aptos"/>
              </a:rPr>
              <a:t>•  Design purpose: </a:t>
            </a:r>
            <a:r>
              <a:rPr sz="1240">
                <a:solidFill>
                  <a:srgbClr val="2A313A"/>
                </a:solidFill>
                <a:latin typeface="Aptos"/>
              </a:rPr>
              <a:t>The schema supports repeatable assessment and report generation. It is a prototype database and does not by itself provide enterprise-grade access control, encryption or regulatory compliance.</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pic>
        <p:nvPicPr>
          <p:cNvPr id="9" name="Picture 8" descr="diag4_er_schema.png"/>
          <p:cNvPicPr>
            <a:picLocks noChangeAspect="1"/>
          </p:cNvPicPr>
          <p:nvPr/>
        </p:nvPicPr>
        <p:blipFill>
          <a:blip r:embed="rId2"/>
          <a:stretch>
            <a:fillRect/>
          </a:stretch>
        </p:blipFill>
        <p:spPr>
          <a:xfrm>
            <a:off x="6200000" y="1350000"/>
            <a:ext cx="5300000" cy="47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Implementation</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14</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15000"/>
              </a:lnSpc>
              <a:spcBef>
                <a:spcPts val="0"/>
              </a:spcBef>
              <a:spcAft>
                <a:spcPts val="300"/>
              </a:spcAft>
              <a:defRPr sz="1400" b="1">
                <a:solidFill>
                  <a:srgbClr val="1E293B"/>
                </a:solidFill>
                <a:latin typeface="Arial"/>
              </a:defRPr>
            </a:pPr>
            <a:r>
              <a:rPr sz="1160" b="1">
                <a:solidFill>
                  <a:srgbClr val="202F43"/>
                </a:solidFill>
                <a:latin typeface="Aptos"/>
              </a:rPr>
              <a:t>•  Vectorized Financial Ratio Engineering: </a:t>
            </a:r>
            <a:r>
              <a:rPr sz="1160" b="0">
                <a:solidFill>
                  <a:srgbClr val="2A313A"/>
                </a:solidFill>
                <a:latin typeface="Aptos"/>
              </a:rPr>
              <a:t>Derives 7 domain ratios (Debt-to-Income, Operating Profit Margin, Loan-to-Income, Cash Flow Coverage, Debt Ratio) with np.maximum() zero-division clamps to guarantee numerical stability.</a:t>
            </a:r>
          </a:p>
          <a:p>
            <a:pPr>
              <a:lnSpc>
                <a:spcPct val="115000"/>
              </a:lnSpc>
              <a:spcAft>
                <a:spcPts val="300"/>
              </a:spcAft>
            </a:pPr>
            <a:r>
              <a:rPr sz="1160" b="1">
                <a:solidFill>
                  <a:srgbClr val="202F43"/>
                </a:solidFill>
                <a:latin typeface="Aptos"/>
              </a:rPr>
              <a:t>•  Deterministic 5-Pillar Financial Health Index: </a:t>
            </a:r>
            <a:r>
              <a:rPr sz="1160" b="0">
                <a:solidFill>
                  <a:srgbClr val="2A313A"/>
                </a:solidFill>
                <a:latin typeface="Aptos"/>
              </a:rPr>
              <a:t>Decoupled 0–100 score evaluating Debt Management (25 pts), Liquidity (25 pts), Profitability (20 pts), Repayment (20 pts), and Stability (10 pts) with assigned letter grades.</a:t>
            </a:r>
          </a:p>
          <a:p>
            <a:pPr>
              <a:lnSpc>
                <a:spcPct val="115000"/>
              </a:lnSpc>
              <a:spcAft>
                <a:spcPts val="300"/>
              </a:spcAft>
            </a:pPr>
            <a:r>
              <a:rPr sz="1160" b="1">
                <a:solidFill>
                  <a:srgbClr val="202F43"/>
                </a:solidFill>
                <a:latin typeface="Aptos"/>
              </a:rPr>
              <a:t>•  Calibrated Prediction &amp; SHAP Engine: </a:t>
            </a:r>
            <a:r>
              <a:rPr sz="1160" b="0">
                <a:solidFill>
                  <a:srgbClr val="2A313A"/>
                </a:solidFill>
                <a:latin typeface="Aptos"/>
              </a:rPr>
              <a:t>Evaluates calibrated class probabilities (Low, Med, High) via regularized Logistic Regression; decomposes outputs into signed risk amplifiers and mitigators via LinearSHAP in &lt; 50 ms.</a:t>
            </a:r>
          </a:p>
          <a:p>
            <a:pPr>
              <a:lnSpc>
                <a:spcPct val="115000"/>
              </a:lnSpc>
              <a:spcAft>
                <a:spcPts val="300"/>
              </a:spcAft>
            </a:pPr>
            <a:r>
              <a:rPr sz="1160" b="1">
                <a:solidFill>
                  <a:srgbClr val="202F43"/>
                </a:solidFill>
                <a:latin typeface="Aptos"/>
              </a:rPr>
              <a:t>•  Counterfactual What-If Simulation Engine: </a:t>
            </a:r>
            <a:r>
              <a:rPr sz="1160" b="0">
                <a:solidFill>
                  <a:srgbClr val="2A313A"/>
                </a:solidFill>
                <a:latin typeface="Aptos"/>
              </a:rPr>
              <a:t>Allows dynamic parameter manipulation (e.g., debt reduction) via reactive UI sliders, computing instantaneous probability deltas and health shifts without retraining.</a:t>
            </a:r>
          </a:p>
          <a:p>
            <a:pPr>
              <a:lnSpc>
                <a:spcPct val="115000"/>
              </a:lnSpc>
              <a:spcAft>
                <a:spcPts val="300"/>
              </a:spcAft>
            </a:pPr>
            <a:r>
              <a:rPr sz="1160" b="1">
                <a:solidFill>
                  <a:srgbClr val="202F43"/>
                </a:solidFill>
                <a:latin typeface="Aptos"/>
              </a:rPr>
              <a:t>•  High-Throughput Vectorized Batch Engine: </a:t>
            </a:r>
            <a:r>
              <a:rPr sz="1160" b="0">
                <a:solidFill>
                  <a:srgbClr val="2A313A"/>
                </a:solidFill>
                <a:latin typeface="Aptos"/>
              </a:rPr>
              <a:t>Vectorized in-memory Pandas/NumPy pipeline evaluating 272,650 enterprise profiles in just 0.12 seconds with fuzzy column schema mapping for heterogeneous CSVs.</a:t>
            </a:r>
          </a:p>
          <a:p>
            <a:pPr>
              <a:lnSpc>
                <a:spcPct val="115000"/>
              </a:lnSpc>
              <a:spcAft>
                <a:spcPts val="300"/>
              </a:spcAft>
            </a:pPr>
            <a:r>
              <a:rPr sz="1160" b="1">
                <a:solidFill>
                  <a:srgbClr val="202F43"/>
                </a:solidFill>
                <a:latin typeface="Aptos"/>
              </a:rPr>
              <a:t>•  Persistence &amp; Institutional Audit Reports: </a:t>
            </a:r>
            <a:r>
              <a:rPr sz="1160" b="0">
                <a:solidFill>
                  <a:srgbClr val="2A313A"/>
                </a:solidFill>
                <a:latin typeface="Aptos"/>
              </a:rPr>
              <a:t>ACID-compliant SQLite 3 database operating in Third Normal Form (3NF) and dynamic multi-page ReportLab PDF report generation with underwriter covenants.</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Testing Strategy</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15</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700"/>
              </a:spcAft>
              <a:defRPr sz="1400" b="1">
                <a:solidFill>
                  <a:srgbClr val="1E293B"/>
                </a:solidFill>
                <a:latin typeface="Arial"/>
              </a:defRPr>
            </a:pPr>
            <a:r>
              <a:rPr sz="1300" b="1">
                <a:solidFill>
                  <a:srgbClr val="202F43"/>
                </a:solidFill>
                <a:latin typeface="Aptos"/>
              </a:rPr>
              <a:t>•  Automated testing: </a:t>
            </a:r>
            <a:r>
              <a:rPr sz="1300">
                <a:solidFill>
                  <a:srgbClr val="2A313A"/>
                </a:solidFill>
                <a:latin typeface="Aptos"/>
              </a:rPr>
              <a:t>The project includes a PyTest suite for core feature calculations, preprocessing, inference and scenario-related behaviour. The current recorded run reports 7 tests passing.</a:t>
            </a:r>
          </a:p>
          <a:p>
            <a:pPr>
              <a:lnSpc>
                <a:spcPct val="104000"/>
              </a:lnSpc>
              <a:spcBef>
                <a:spcPts val="0"/>
              </a:spcBef>
              <a:spcAft>
                <a:spcPts val="700"/>
              </a:spcAft>
            </a:pPr>
            <a:r>
              <a:rPr sz="1300" b="1">
                <a:solidFill>
                  <a:srgbClr val="202F43"/>
                </a:solidFill>
                <a:latin typeface="Aptos"/>
              </a:rPr>
              <a:t>•  Feature-engineering checks: </a:t>
            </a:r>
            <a:r>
              <a:rPr sz="1300">
                <a:solidFill>
                  <a:srgbClr val="2A313A"/>
                </a:solidFill>
                <a:latin typeface="Aptos"/>
              </a:rPr>
              <a:t>Tests verify financial-ratio formulas and exercise edge cases such as zero revenue or zero debt, where unguarded division could produce invalid values.</a:t>
            </a:r>
          </a:p>
          <a:p>
            <a:pPr>
              <a:lnSpc>
                <a:spcPct val="104000"/>
              </a:lnSpc>
              <a:spcBef>
                <a:spcPts val="0"/>
              </a:spcBef>
              <a:spcAft>
                <a:spcPts val="700"/>
              </a:spcAft>
            </a:pPr>
            <a:r>
              <a:rPr sz="1300" b="1">
                <a:solidFill>
                  <a:srgbClr val="202F43"/>
                </a:solidFill>
                <a:latin typeface="Aptos"/>
              </a:rPr>
              <a:t>•  Preprocessing checks: </a:t>
            </a:r>
            <a:r>
              <a:rPr sz="1300">
                <a:solidFill>
                  <a:srgbClr val="2A313A"/>
                </a:solidFill>
                <a:latin typeface="Aptos"/>
              </a:rPr>
              <a:t>Tests cover duplicate handling, negative-value treatment, credit-score boundary clamping and expected transformed output dimensions.</a:t>
            </a:r>
          </a:p>
          <a:p>
            <a:pPr>
              <a:lnSpc>
                <a:spcPct val="104000"/>
              </a:lnSpc>
              <a:spcBef>
                <a:spcPts val="0"/>
              </a:spcBef>
              <a:spcAft>
                <a:spcPts val="700"/>
              </a:spcAft>
            </a:pPr>
            <a:r>
              <a:rPr sz="1300" b="1">
                <a:solidFill>
                  <a:srgbClr val="202F43"/>
                </a:solidFill>
                <a:latin typeface="Aptos"/>
              </a:rPr>
              <a:t>•  Prediction and scenario checks: </a:t>
            </a:r>
            <a:r>
              <a:rPr sz="1300">
                <a:solidFill>
                  <a:srgbClr val="2A313A"/>
                </a:solidFill>
                <a:latin typeface="Aptos"/>
              </a:rPr>
              <a:t>Inference tests check that the application can produce expected risk outputs from valid inputs; scenario tests help ensure changed inputs are handled consistently.</a:t>
            </a:r>
          </a:p>
          <a:p>
            <a:pPr>
              <a:lnSpc>
                <a:spcPct val="104000"/>
              </a:lnSpc>
              <a:spcBef>
                <a:spcPts val="0"/>
              </a:spcBef>
              <a:spcAft>
                <a:spcPts val="700"/>
              </a:spcAft>
            </a:pPr>
            <a:r>
              <a:rPr sz="1300" b="1">
                <a:solidFill>
                  <a:srgbClr val="202F43"/>
                </a:solidFill>
                <a:latin typeface="Aptos"/>
              </a:rPr>
              <a:t>•  Reporting and persistence checks: </a:t>
            </a:r>
            <a:r>
              <a:rPr sz="1300">
                <a:solidFill>
                  <a:srgbClr val="2A313A"/>
                </a:solidFill>
                <a:latin typeface="Aptos"/>
              </a:rPr>
              <a:t>Database and PDF-related checks help verify that assessment records and output files can be created through the intended workflow.</a:t>
            </a:r>
          </a:p>
          <a:p>
            <a:pPr>
              <a:lnSpc>
                <a:spcPct val="104000"/>
              </a:lnSpc>
              <a:spcBef>
                <a:spcPts val="0"/>
              </a:spcBef>
              <a:spcAft>
                <a:spcPts val="700"/>
              </a:spcAft>
            </a:pPr>
            <a:r>
              <a:rPr sz="1300" b="1">
                <a:solidFill>
                  <a:srgbClr val="202F43"/>
                </a:solidFill>
                <a:latin typeface="Aptos"/>
              </a:rPr>
              <a:t>•  Interpretation of test results: </a:t>
            </a:r>
            <a:r>
              <a:rPr sz="1300">
                <a:solidFill>
                  <a:srgbClr val="2A313A"/>
                </a:solidFill>
                <a:latin typeface="Aptos"/>
              </a:rPr>
              <a:t>A passing unit-test suite is evidence that tested code paths behave as expected. It is not proof of predictive validity, fairness, security or readiness for deployment with real borrower data.</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Results &amp; Discussion</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16</a:t>
            </a:r>
          </a:p>
        </p:txBody>
      </p:sp>
      <p:sp>
        <p:nvSpPr>
          <p:cNvPr id="7" name="TextBox 6"/>
          <p:cNvSpPr txBox="1"/>
          <p:nvPr/>
        </p:nvSpPr>
        <p:spPr>
          <a:xfrm>
            <a:off x="822960" y="1325880"/>
            <a:ext cx="5200000" cy="4754880"/>
          </a:xfrm>
          <a:prstGeom prst="rect">
            <a:avLst/>
          </a:prstGeom>
          <a:noFill/>
        </p:spPr>
        <p:txBody>
          <a:bodyPr wrap="square" lIns="76200" rIns="76200" tIns="63500" bIns="50800">
            <a:spAutoFit/>
          </a:bodyPr>
          <a:lstStyle/>
          <a:p>
            <a:pPr>
              <a:lnSpc>
                <a:spcPct val="115000"/>
              </a:lnSpc>
              <a:spcBef>
                <a:spcPts val="0"/>
              </a:spcBef>
              <a:spcAft>
                <a:spcPts val="300"/>
              </a:spcAft>
              <a:defRPr sz="1200" b="1">
                <a:solidFill>
                  <a:srgbClr val="1E293B"/>
                </a:solidFill>
                <a:latin typeface="Arial"/>
              </a:defRPr>
            </a:pPr>
            <a:r>
              <a:rPr sz="1160" b="1">
                <a:solidFill>
                  <a:srgbClr val="202F43"/>
                </a:solidFill>
                <a:latin typeface="Aptos"/>
              </a:rPr>
              <a:t>•  Stratified 5-Fold Cross-Validation Benchmark: </a:t>
            </a:r>
            <a:r>
              <a:rPr sz="1160" b="0">
                <a:solidFill>
                  <a:srgbClr val="2A313A"/>
                </a:solidFill>
                <a:latin typeface="Aptos"/>
              </a:rPr>
              <a:t>Logistic Regression achieved CV F1 = 0.8671 and accuracy = 88.92%, outperforming Random Forest (F1 = 0.8094, Acc = 83.92%) and Decision Trees (F1 = 0.7799, Acc = 80.92%) on normalized ratio space.</a:t>
            </a:r>
          </a:p>
          <a:p>
            <a:pPr>
              <a:lnSpc>
                <a:spcPct val="115000"/>
              </a:lnSpc>
              <a:spcAft>
                <a:spcPts val="300"/>
              </a:spcAft>
            </a:pPr>
            <a:r>
              <a:rPr sz="1160" b="1">
                <a:solidFill>
                  <a:srgbClr val="202F43"/>
                </a:solidFill>
                <a:latin typeface="Aptos"/>
              </a:rPr>
              <a:t>•  Held-Out Test Evaluation (N=300): </a:t>
            </a:r>
            <a:r>
              <a:rPr sz="1160" b="0">
                <a:solidFill>
                  <a:srgbClr val="2A313A"/>
                </a:solidFill>
                <a:latin typeface="Aptos"/>
              </a:rPr>
              <a:t>The champion model recorded 86.33% Accuracy, Macro F1 = 0.8344, Macro Precision = 0.8468, Macro Recall = 0.8236, and an Area Under the ROC Curve (ROC-AUC) of 0.9680.</a:t>
            </a:r>
          </a:p>
          <a:p>
            <a:pPr>
              <a:lnSpc>
                <a:spcPct val="115000"/>
              </a:lnSpc>
              <a:spcAft>
                <a:spcPts val="300"/>
              </a:spcAft>
            </a:pPr>
            <a:r>
              <a:rPr sz="1160" b="1">
                <a:solidFill>
                  <a:srgbClr val="202F43"/>
                </a:solidFill>
                <a:latin typeface="Aptos"/>
              </a:rPr>
              <a:t>•  Class-Wise Breakdown &amp; Default Safety: </a:t>
            </a:r>
            <a:r>
              <a:rPr sz="1160" b="0">
                <a:solidFill>
                  <a:srgbClr val="2A313A"/>
                </a:solidFill>
                <a:latin typeface="Aptos"/>
              </a:rPr>
              <a:t>Low Risk: Precision 90.6%, Recall 94.3% (F1 = 0.924); Medium Risk: Precision 75.6%, Recall 72.8% (F1 = 0.742); High Risk: Precision 87.8%, Recall 80.0% (F1 = 0.837) on the test split.</a:t>
            </a:r>
          </a:p>
          <a:p>
            <a:pPr>
              <a:lnSpc>
                <a:spcPct val="115000"/>
              </a:lnSpc>
              <a:spcAft>
                <a:spcPts val="300"/>
              </a:spcAft>
            </a:pPr>
            <a:r>
              <a:rPr sz="1160" b="1">
                <a:solidFill>
                  <a:srgbClr val="202F43"/>
                </a:solidFill>
                <a:latin typeface="Aptos"/>
              </a:rPr>
              <a:t>•  Zero Catastrophic False Negatives: </a:t>
            </a:r>
            <a:r>
              <a:rPr sz="1160" b="0">
                <a:solidFill>
                  <a:srgbClr val="2A313A"/>
                </a:solidFill>
                <a:latin typeface="Aptos"/>
              </a:rPr>
              <a:t>Critically, exactly 0 High Risk applicants were misclassified into the Low Risk tier (164 of 174 Lows and 36 of 45 Highs correctly flagged), providing vital protection against institutional lending default losses.</a:t>
            </a:r>
          </a:p>
          <a:p>
            <a:pPr>
              <a:lnSpc>
                <a:spcPct val="115000"/>
              </a:lnSpc>
              <a:spcAft>
                <a:spcPts val="300"/>
              </a:spcAft>
            </a:pPr>
            <a:r>
              <a:rPr sz="1160" b="1">
                <a:solidFill>
                  <a:srgbClr val="202F43"/>
                </a:solidFill>
                <a:latin typeface="Aptos"/>
              </a:rPr>
              <a:t>•  Methodological Soundness &amp; Limitation: </a:t>
            </a:r>
            <a:r>
              <a:rPr sz="1160" b="0">
                <a:solidFill>
                  <a:srgbClr val="2A313A"/>
                </a:solidFill>
                <a:latin typeface="Aptos"/>
              </a:rPr>
              <a:t>All preprocessing and synthetic resampling (SMOTE/ADASYN) were encapsulated strictly within cross-validation folds to guarantee zero data leakage. Real-world validation remains the next step.</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pic>
        <p:nvPicPr>
          <p:cNvPr id="9" name="Picture 8" descr="diag5_results_visual.png"/>
          <p:cNvPicPr>
            <a:picLocks noChangeAspect="1"/>
          </p:cNvPicPr>
          <p:nvPr/>
        </p:nvPicPr>
        <p:blipFill>
          <a:blip r:embed="rId2"/>
          <a:stretch>
            <a:fillRect/>
          </a:stretch>
        </p:blipFill>
        <p:spPr>
          <a:xfrm>
            <a:off x="6200000" y="1350000"/>
            <a:ext cx="5300000" cy="47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Project Plan &amp; Contributions</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17</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500"/>
              </a:spcAft>
              <a:defRPr sz="1400" b="1">
                <a:solidFill>
                  <a:srgbClr val="1E293B"/>
                </a:solidFill>
                <a:latin typeface="Arial"/>
              </a:defRPr>
            </a:pPr>
            <a:r>
              <a:rPr sz="1300" b="1">
                <a:solidFill>
                  <a:srgbClr val="202F43"/>
                </a:solidFill>
                <a:latin typeface="Aptos"/>
              </a:rPr>
              <a:t>•  Phase 1 — Foundation (completed): </a:t>
            </a:r>
            <a:r>
              <a:rPr sz="1300">
                <a:solidFill>
                  <a:srgbClr val="2A313A"/>
                </a:solidFill>
                <a:latin typeface="Aptos"/>
              </a:rPr>
              <a:t>Defined the credit-risk problem, reviewed related literature, documented the research gap and generated the initial synthetic dataset.</a:t>
            </a:r>
          </a:p>
          <a:p>
            <a:pPr>
              <a:lnSpc>
                <a:spcPct val="104000"/>
              </a:lnSpc>
              <a:spcBef>
                <a:spcPts val="0"/>
              </a:spcBef>
              <a:spcAft>
                <a:spcPts val="500"/>
              </a:spcAft>
            </a:pPr>
            <a:r>
              <a:rPr sz="1300" b="1">
                <a:solidFill>
                  <a:srgbClr val="202F43"/>
                </a:solidFill>
                <a:latin typeface="Aptos"/>
              </a:rPr>
              <a:t>•  Phase 2 — Data and modelling (completed): </a:t>
            </a:r>
            <a:r>
              <a:rPr sz="1300">
                <a:solidFill>
                  <a:srgbClr val="2A313A"/>
                </a:solidFill>
                <a:latin typeface="Aptos"/>
              </a:rPr>
              <a:t>Implemented financial-ratio engineering and preprocessing, established train/test separation, and benchmarked candidate classifiers with cross-validation.</a:t>
            </a:r>
          </a:p>
          <a:p>
            <a:pPr>
              <a:lnSpc>
                <a:spcPct val="104000"/>
              </a:lnSpc>
              <a:spcBef>
                <a:spcPts val="0"/>
              </a:spcBef>
              <a:spcAft>
                <a:spcPts val="500"/>
              </a:spcAft>
            </a:pPr>
            <a:r>
              <a:rPr sz="1300" b="1">
                <a:solidFill>
                  <a:srgbClr val="202F43"/>
                </a:solidFill>
                <a:latin typeface="Aptos"/>
              </a:rPr>
              <a:t>•  Phase 3 — Explainability and scenarios (completed): </a:t>
            </a:r>
            <a:r>
              <a:rPr sz="1300">
                <a:solidFill>
                  <a:srgbClr val="2A313A"/>
                </a:solidFill>
                <a:latin typeface="Aptos"/>
              </a:rPr>
              <a:t>Integrated SHAP explanations, the five-pillar Financial Health Index and the What-If simulator to make outputs more interpretable and exploratory.</a:t>
            </a:r>
          </a:p>
          <a:p>
            <a:pPr>
              <a:lnSpc>
                <a:spcPct val="104000"/>
              </a:lnSpc>
              <a:spcBef>
                <a:spcPts val="0"/>
              </a:spcBef>
              <a:spcAft>
                <a:spcPts val="500"/>
              </a:spcAft>
            </a:pPr>
            <a:r>
              <a:rPr sz="1300" b="1">
                <a:solidFill>
                  <a:srgbClr val="202F43"/>
                </a:solidFill>
                <a:latin typeface="Aptos"/>
              </a:rPr>
              <a:t>•  Phase 4 — Application delivery (completed): </a:t>
            </a:r>
            <a:r>
              <a:rPr sz="1300">
                <a:solidFill>
                  <a:srgbClr val="2A313A"/>
                </a:solidFill>
                <a:latin typeface="Aptos"/>
              </a:rPr>
              <a:t>Built the Streamlit interface, connected SQLite assessment history and implemented downloadable PDF reporting.</a:t>
            </a:r>
          </a:p>
          <a:p>
            <a:pPr>
              <a:lnSpc>
                <a:spcPct val="104000"/>
              </a:lnSpc>
              <a:spcBef>
                <a:spcPts val="0"/>
              </a:spcBef>
              <a:spcAft>
                <a:spcPts val="500"/>
              </a:spcAft>
            </a:pPr>
            <a:r>
              <a:rPr sz="1300" b="1">
                <a:solidFill>
                  <a:srgbClr val="202F43"/>
                </a:solidFill>
                <a:latin typeface="Aptos"/>
              </a:rPr>
              <a:t>•  Phase 5 — Verification and documentation (completed): </a:t>
            </a:r>
            <a:r>
              <a:rPr sz="1300">
                <a:solidFill>
                  <a:srgbClr val="2A313A"/>
                </a:solidFill>
                <a:latin typeface="Aptos"/>
              </a:rPr>
              <a:t>Ran the recorded automated test suite and prepared project documentation and presentation material.</a:t>
            </a:r>
          </a:p>
          <a:p>
            <a:pPr>
              <a:lnSpc>
                <a:spcPct val="104000"/>
              </a:lnSpc>
              <a:spcBef>
                <a:spcPts val="0"/>
              </a:spcBef>
              <a:spcAft>
                <a:spcPts val="500"/>
              </a:spcAft>
            </a:pPr>
            <a:r>
              <a:rPr sz="1300" b="1">
                <a:solidFill>
                  <a:srgbClr val="202F43"/>
                </a:solidFill>
                <a:latin typeface="Aptos"/>
              </a:rPr>
              <a:t>•  Key engineering considerations: </a:t>
            </a:r>
            <a:r>
              <a:rPr sz="1300">
                <a:solidFill>
                  <a:srgbClr val="2A313A"/>
                </a:solidFill>
                <a:latin typeface="Aptos"/>
              </a:rPr>
              <a:t>Maintaining consistent preprocessing between training and inference, guarding financial ratios against invalid values, and separating model output from user-facing explanations were central design concerns.</a:t>
            </a:r>
          </a:p>
          <a:p>
            <a:pPr>
              <a:lnSpc>
                <a:spcPct val="104000"/>
              </a:lnSpc>
              <a:spcBef>
                <a:spcPts val="0"/>
              </a:spcBef>
              <a:spcAft>
                <a:spcPts val="500"/>
              </a:spcAft>
            </a:pPr>
            <a:r>
              <a:rPr sz="1300" b="1">
                <a:solidFill>
                  <a:srgbClr val="202F43"/>
                </a:solidFill>
                <a:latin typeface="Aptos"/>
              </a:rPr>
              <a:t>•  Next milestone: </a:t>
            </a:r>
            <a:r>
              <a:rPr sz="1300">
                <a:solidFill>
                  <a:srgbClr val="2A313A"/>
                </a:solidFill>
                <a:latin typeface="Aptos"/>
              </a:rPr>
              <a:t>Validate the workflow with representative, permissioned real-world data; assess calibration and fairness; and review security and governance requirements before any pilot deployment.</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Conclusion</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18</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700"/>
              </a:spcAft>
              <a:defRPr sz="1400" b="1">
                <a:solidFill>
                  <a:srgbClr val="1E293B"/>
                </a:solidFill>
                <a:latin typeface="Arial"/>
              </a:defRPr>
            </a:pPr>
            <a:r>
              <a:rPr sz="1300" b="1">
                <a:solidFill>
                  <a:srgbClr val="202F43"/>
                </a:solidFill>
                <a:latin typeface="Aptos"/>
              </a:rPr>
              <a:t>•  Project outcome: </a:t>
            </a:r>
            <a:r>
              <a:rPr sz="1300">
                <a:solidFill>
                  <a:srgbClr val="2A313A"/>
                </a:solidFill>
                <a:latin typeface="Aptos"/>
              </a:rPr>
              <a:t>Developed an explainable AI-based MSME credit-risk assistant that brings risk prediction, financial indicators and scenario exploration into a single Streamlit workflow.</a:t>
            </a:r>
          </a:p>
          <a:p>
            <a:pPr>
              <a:lnSpc>
                <a:spcPct val="104000"/>
              </a:lnSpc>
              <a:spcBef>
                <a:spcPts val="0"/>
              </a:spcBef>
              <a:spcAft>
                <a:spcPts val="700"/>
              </a:spcAft>
            </a:pPr>
            <a:r>
              <a:rPr sz="1300" b="1">
                <a:solidFill>
                  <a:srgbClr val="202F43"/>
                </a:solidFill>
                <a:latin typeface="Aptos"/>
              </a:rPr>
              <a:t>•  Model results: </a:t>
            </a:r>
            <a:r>
              <a:rPr sz="1300">
                <a:solidFill>
                  <a:srgbClr val="2A313A"/>
                </a:solidFill>
                <a:latin typeface="Aptos"/>
              </a:rPr>
              <a:t>On the current synthetic held-out test set, Logistic Regression achieved 86.33% accuracy, Macro F1 = 0.8344 and ROC-AUC = 0.9680. These are prototype evaluation results, not real-world performance guarantees.</a:t>
            </a:r>
          </a:p>
          <a:p>
            <a:pPr>
              <a:lnSpc>
                <a:spcPct val="104000"/>
              </a:lnSpc>
              <a:spcBef>
                <a:spcPts val="0"/>
              </a:spcBef>
              <a:spcAft>
                <a:spcPts val="700"/>
              </a:spcAft>
            </a:pPr>
            <a:r>
              <a:rPr sz="1300" b="1">
                <a:solidFill>
                  <a:srgbClr val="202F43"/>
                </a:solidFill>
                <a:latin typeface="Aptos"/>
              </a:rPr>
              <a:t>•  Interpretability: </a:t>
            </a:r>
            <a:r>
              <a:rPr sz="1300">
                <a:solidFill>
                  <a:srgbClr val="2A313A"/>
                </a:solidFill>
                <a:latin typeface="Aptos"/>
              </a:rPr>
              <a:t>SHAP explanations provide context for model outputs, while the Low/Medium/High categories and financial ratios make the assessment easier to inspect.</a:t>
            </a:r>
          </a:p>
          <a:p>
            <a:pPr>
              <a:lnSpc>
                <a:spcPct val="104000"/>
              </a:lnSpc>
              <a:spcBef>
                <a:spcPts val="0"/>
              </a:spcBef>
              <a:spcAft>
                <a:spcPts val="700"/>
              </a:spcAft>
            </a:pPr>
            <a:r>
              <a:rPr sz="1300" b="1">
                <a:solidFill>
                  <a:srgbClr val="202F43"/>
                </a:solidFill>
                <a:latin typeface="Aptos"/>
              </a:rPr>
              <a:t>•  Practical additions: </a:t>
            </a:r>
            <a:r>
              <a:rPr sz="1300">
                <a:solidFill>
                  <a:srgbClr val="2A313A"/>
                </a:solidFill>
                <a:latin typeface="Aptos"/>
              </a:rPr>
              <a:t>The five-pillar health score, What-If simulator, SQLite history and downloadable PDF reports extend the workflow beyond a one-time model prediction.</a:t>
            </a:r>
          </a:p>
          <a:p>
            <a:pPr>
              <a:lnSpc>
                <a:spcPct val="104000"/>
              </a:lnSpc>
              <a:spcBef>
                <a:spcPts val="0"/>
              </a:spcBef>
              <a:spcAft>
                <a:spcPts val="700"/>
              </a:spcAft>
            </a:pPr>
            <a:r>
              <a:rPr sz="1300" b="1">
                <a:solidFill>
                  <a:srgbClr val="202F43"/>
                </a:solidFill>
                <a:latin typeface="Aptos"/>
              </a:rPr>
              <a:t>•  Responsible-use position: </a:t>
            </a:r>
            <a:r>
              <a:rPr sz="1300">
                <a:solidFill>
                  <a:srgbClr val="2A313A"/>
                </a:solidFill>
                <a:latin typeface="Aptos"/>
              </a:rPr>
              <a:t>The application is a decision-support aid. It does not approve or reject loans, replace lender judgement or guarantee repayment outcomes.</a:t>
            </a:r>
          </a:p>
          <a:p>
            <a:pPr>
              <a:lnSpc>
                <a:spcPct val="104000"/>
              </a:lnSpc>
              <a:spcBef>
                <a:spcPts val="0"/>
              </a:spcBef>
              <a:spcAft>
                <a:spcPts val="700"/>
              </a:spcAft>
            </a:pPr>
            <a:r>
              <a:rPr sz="1300" b="1">
                <a:solidFill>
                  <a:srgbClr val="202F43"/>
                </a:solidFill>
                <a:latin typeface="Aptos"/>
              </a:rPr>
              <a:t>•  Overall contribution: </a:t>
            </a:r>
            <a:r>
              <a:rPr sz="1300">
                <a:solidFill>
                  <a:srgbClr val="2A313A"/>
                </a:solidFill>
                <a:latin typeface="Aptos"/>
              </a:rPr>
              <a:t>The project demonstrates how prediction, explanation, financial-health summarization and scenario-based exploration can be integrated in a prototype that is transparent about its data limitations.</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Limitations &amp; Future Scope</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19</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04000"/>
              </a:lnSpc>
              <a:spcBef>
                <a:spcPts val="0"/>
              </a:spcBef>
              <a:spcAft>
                <a:spcPts val="700"/>
              </a:spcAft>
              <a:defRPr sz="1400" b="1">
                <a:solidFill>
                  <a:srgbClr val="1E293B"/>
                </a:solidFill>
                <a:latin typeface="Arial"/>
              </a:defRPr>
            </a:pPr>
            <a:r>
              <a:rPr sz="1300" b="1">
                <a:solidFill>
                  <a:srgbClr val="202F43"/>
                </a:solidFill>
                <a:latin typeface="Aptos"/>
              </a:rPr>
              <a:t>•  Current limitations: </a:t>
            </a:r>
            <a:r>
              <a:rPr sz="1300">
                <a:solidFill>
                  <a:srgbClr val="2A313A"/>
                </a:solidFill>
                <a:latin typeface="Aptos"/>
              </a:rPr>
              <a:t>The model is developed and evaluated using synthetic financial records, so real-world generalization has not been established. Synthetic patterns may not capture the full complexity, missingness or bias of actual lending data.</a:t>
            </a:r>
          </a:p>
          <a:p>
            <a:pPr>
              <a:lnSpc>
                <a:spcPct val="104000"/>
              </a:lnSpc>
              <a:spcBef>
                <a:spcPts val="0"/>
              </a:spcBef>
              <a:spcAft>
                <a:spcPts val="700"/>
              </a:spcAft>
            </a:pPr>
            <a:r>
              <a:rPr sz="1300" b="1">
                <a:solidFill>
                  <a:srgbClr val="202F43"/>
                </a:solidFill>
                <a:latin typeface="Aptos"/>
              </a:rPr>
              <a:t>•  Operational limitations: </a:t>
            </a:r>
            <a:r>
              <a:rPr sz="1300">
                <a:solidFill>
                  <a:srgbClr val="2A313A"/>
                </a:solidFill>
                <a:latin typeface="Aptos"/>
              </a:rPr>
              <a:t>The prototype primarily processes entered financial values; it does not currently provide verified real-time feeds from banks, GST systems or credit bureaus. Scenario results are model-based estimates, not forecasts.</a:t>
            </a:r>
          </a:p>
          <a:p>
            <a:pPr>
              <a:lnSpc>
                <a:spcPct val="104000"/>
              </a:lnSpc>
              <a:spcBef>
                <a:spcPts val="0"/>
              </a:spcBef>
              <a:spcAft>
                <a:spcPts val="700"/>
              </a:spcAft>
            </a:pPr>
            <a:r>
              <a:rPr sz="1300" b="1">
                <a:solidFill>
                  <a:srgbClr val="202F43"/>
                </a:solidFill>
                <a:latin typeface="Aptos"/>
              </a:rPr>
              <a:t>•  Future data integration: </a:t>
            </a:r>
            <a:r>
              <a:rPr sz="1300">
                <a:solidFill>
                  <a:srgbClr val="2A313A"/>
                </a:solidFill>
                <a:latin typeface="Aptos"/>
              </a:rPr>
              <a:t>With appropriate consent, governance and security, future versions could explore approved Account Aggregator or GST-related data access and document extraction to reduce manual entry.</a:t>
            </a:r>
          </a:p>
          <a:p>
            <a:pPr>
              <a:lnSpc>
                <a:spcPct val="104000"/>
              </a:lnSpc>
              <a:spcBef>
                <a:spcPts val="0"/>
              </a:spcBef>
              <a:spcAft>
                <a:spcPts val="700"/>
              </a:spcAft>
            </a:pPr>
            <a:r>
              <a:rPr sz="1300" b="1">
                <a:solidFill>
                  <a:srgbClr val="202F43"/>
                </a:solidFill>
                <a:latin typeface="Aptos"/>
              </a:rPr>
              <a:t>•  Stronger validation: </a:t>
            </a:r>
            <a:r>
              <a:rPr sz="1300">
                <a:solidFill>
                  <a:srgbClr val="2A313A"/>
                </a:solidFill>
                <a:latin typeface="Aptos"/>
              </a:rPr>
              <a:t>Evaluate on representative real-world data, use time-based or external validation where suitable, review probability calibration, and monitor performance drift across sectors and business sizes.</a:t>
            </a:r>
          </a:p>
          <a:p>
            <a:pPr>
              <a:lnSpc>
                <a:spcPct val="104000"/>
              </a:lnSpc>
              <a:spcBef>
                <a:spcPts val="0"/>
              </a:spcBef>
              <a:spcAft>
                <a:spcPts val="700"/>
              </a:spcAft>
            </a:pPr>
            <a:r>
              <a:rPr sz="1300" b="1">
                <a:solidFill>
                  <a:srgbClr val="202F43"/>
                </a:solidFill>
                <a:latin typeface="Aptos"/>
              </a:rPr>
              <a:t>•  Fairness, privacy &amp; governance: </a:t>
            </a:r>
            <a:r>
              <a:rPr sz="1300">
                <a:solidFill>
                  <a:srgbClr val="2A313A"/>
                </a:solidFill>
                <a:latin typeface="Aptos"/>
              </a:rPr>
              <a:t>Assess error rates across relevant groups, document intended use, minimize stored personal/business data, apply access controls and define retention policies before operational use.</a:t>
            </a:r>
          </a:p>
          <a:p>
            <a:pPr>
              <a:lnSpc>
                <a:spcPct val="104000"/>
              </a:lnSpc>
              <a:spcBef>
                <a:spcPts val="0"/>
              </a:spcBef>
              <a:spcAft>
                <a:spcPts val="700"/>
              </a:spcAft>
            </a:pPr>
            <a:r>
              <a:rPr sz="1300" b="1">
                <a:solidFill>
                  <a:srgbClr val="202F43"/>
                </a:solidFill>
                <a:latin typeface="Aptos"/>
              </a:rPr>
              <a:t>•  Deployment roadmap: </a:t>
            </a:r>
            <a:r>
              <a:rPr sz="1300">
                <a:solidFill>
                  <a:srgbClr val="2A313A"/>
                </a:solidFill>
                <a:latin typeface="Aptos"/>
              </a:rPr>
              <a:t>Potential next steps include role-based access, secured API integration, audit logging, model monitoring and feedback from domain experts—only after legal, ethical and technical review.</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9184"/>
            <a:ext cx="10972800" cy="502920"/>
          </a:xfrm>
          <a:prstGeom prst="rect">
            <a:avLst/>
          </a:prstGeom>
          <a:noFill/>
        </p:spPr>
        <p:txBody>
          <a:bodyPr wrap="none">
            <a:spAutoFit/>
          </a:bodyPr>
          <a:lstStyle/>
          <a:p>
            <a:pPr>
              <a:spcAft>
                <a:spcPts val="0"/>
              </a:spcAft>
              <a:defRPr sz="2200" b="1">
                <a:solidFill>
                  <a:srgbClr val="1A365D"/>
                </a:solidFill>
                <a:latin typeface="Arial"/>
              </a:defRPr>
            </a:pPr>
            <a:r>
              <a:t>References</a:t>
            </a:r>
          </a:p>
        </p:txBody>
      </p:sp>
      <p:sp>
        <p:nvSpPr>
          <p:cNvPr id="4" name="Rectangle 3"/>
          <p:cNvSpPr/>
          <p:nvPr/>
        </p:nvSpPr>
        <p:spPr>
          <a:xfrm>
            <a:off x="502920" y="6446520"/>
            <a:ext cx="11155680" cy="13716"/>
          </a:xfrm>
          <a:prstGeom prst="rect">
            <a:avLst/>
          </a:prstGeom>
          <a:solidFill>
            <a:srgbClr val="D2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492240"/>
            <a:ext cx="10698480" cy="182880"/>
          </a:xfrm>
          <a:prstGeom prst="rect">
            <a:avLst/>
          </a:prstGeom>
          <a:noFill/>
        </p:spPr>
        <p:txBody>
          <a:bodyPr wrap="none">
            <a:spAutoFit/>
          </a:bodyPr>
          <a:lstStyle/>
          <a:p>
            <a:pPr>
              <a:defRPr sz="900">
                <a:solidFill>
                  <a:srgbClr val="69737D"/>
                </a:solidFill>
                <a:latin typeface="Aptos"/>
              </a:defRPr>
            </a:pPr>
            <a:r>
              <a:t>Department of Computer Engineering  |  B.Tech. Major Project</a:t>
            </a:r>
          </a:p>
        </p:txBody>
      </p:sp>
      <p:sp>
        <p:nvSpPr>
          <p:cNvPr id="6" name="TextBox 5"/>
          <p:cNvSpPr txBox="1"/>
          <p:nvPr/>
        </p:nvSpPr>
        <p:spPr>
          <a:xfrm>
            <a:off x="11064240" y="6492240"/>
            <a:ext cx="457200" cy="182880"/>
          </a:xfrm>
          <a:prstGeom prst="rect">
            <a:avLst/>
          </a:prstGeom>
          <a:noFill/>
        </p:spPr>
        <p:txBody>
          <a:bodyPr wrap="none">
            <a:spAutoFit/>
          </a:bodyPr>
          <a:lstStyle/>
          <a:p>
            <a:r>
              <a:t>20</a:t>
            </a:r>
          </a:p>
        </p:txBody>
      </p:sp>
      <p:sp>
        <p:nvSpPr>
          <p:cNvPr id="7" name="TextBox 6"/>
          <p:cNvSpPr txBox="1"/>
          <p:nvPr/>
        </p:nvSpPr>
        <p:spPr>
          <a:xfrm>
            <a:off x="822960" y="1325880"/>
            <a:ext cx="10515600" cy="4754880"/>
          </a:xfrm>
          <a:prstGeom prst="rect">
            <a:avLst/>
          </a:prstGeom>
          <a:noFill/>
        </p:spPr>
        <p:txBody>
          <a:bodyPr wrap="square" lIns="76200" rIns="76200" tIns="63500" bIns="50800">
            <a:spAutoFit/>
          </a:bodyPr>
          <a:lstStyle/>
          <a:p>
            <a:pPr>
              <a:lnSpc>
                <a:spcPct val="115000"/>
              </a:lnSpc>
              <a:spcBef>
                <a:spcPts val="0"/>
              </a:spcBef>
              <a:spcAft>
                <a:spcPts val="400"/>
              </a:spcAft>
              <a:defRPr sz="1300" b="1">
                <a:solidFill>
                  <a:srgbClr val="2D3746"/>
                </a:solidFill>
                <a:latin typeface="Aptos"/>
              </a:defRPr>
            </a:pPr>
            <a:r>
              <a:t>•  Primary Base Paper: S. Gudadhe, S. Yadav, P. Adke, V. Kalunge, and K. Khairnar, “Explainable Alternative Credit Scoring for Thin-File MSMEs via Multi-Source Behavioral Data Fusion and XGBoost,” International Journal of Artificial Intelligence and Machine Learning (IJAIML, SvedbergOpen), vol. 6, no. 6s, pp. 995–1010, June 2026. DOI: 10.51483/IJAIML.6.6s.2026.995-1010.</a:t>
            </a:r>
          </a:p>
          <a:p>
            <a:pPr>
              <a:lnSpc>
                <a:spcPct val="115000"/>
              </a:lnSpc>
              <a:spcAft>
                <a:spcPts val="400"/>
              </a:spcAft>
            </a:pPr>
            <a:r>
              <a:rPr sz="1220" b="1">
                <a:solidFill>
                  <a:srgbClr val="202F43"/>
                </a:solidFill>
                <a:latin typeface="Aptos"/>
              </a:rPr>
              <a:t>•  Explainable AI in Banking: </a:t>
            </a:r>
            <a:r>
              <a:rPr sz="1220" b="0">
                <a:solidFill>
                  <a:srgbClr val="2A313A"/>
                </a:solidFill>
                <a:latin typeface="Aptos"/>
              </a:rPr>
              <a:t>N. Bussmann, P. Giudici, D. Marinelli, and J. Papenbrock, “Explainable Machine Learning in Credit Risk Management,” Computational Economics, vol. 57, no. 1, pp. 203–216, 2021.</a:t>
            </a:r>
          </a:p>
          <a:p>
            <a:pPr>
              <a:lnSpc>
                <a:spcPct val="115000"/>
              </a:lnSpc>
              <a:spcAft>
                <a:spcPts val="400"/>
              </a:spcAft>
            </a:pPr>
            <a:r>
              <a:rPr sz="1220" b="1">
                <a:solidFill>
                  <a:srgbClr val="202F43"/>
                </a:solidFill>
                <a:latin typeface="Aptos"/>
              </a:rPr>
              <a:t>•  Class-Imbalance Resampling: </a:t>
            </a:r>
            <a:r>
              <a:rPr sz="1220" b="0">
                <a:solidFill>
                  <a:srgbClr val="2A313A"/>
                </a:solidFill>
                <a:latin typeface="Aptos"/>
              </a:rPr>
              <a:t>N. V. Chawla, K. W. Bowyer, L. O. Hall, and W. P. Kegelmeyer, “SMOTE: Synthetic Minority Over-sampling Technique,” Journal of Artificial Intelligence Research, vol. 16, pp. 321–357, 2002.</a:t>
            </a:r>
          </a:p>
          <a:p>
            <a:pPr>
              <a:lnSpc>
                <a:spcPct val="115000"/>
              </a:lnSpc>
              <a:spcAft>
                <a:spcPts val="400"/>
              </a:spcAft>
            </a:pPr>
            <a:r>
              <a:rPr sz="1220" b="1">
                <a:solidFill>
                  <a:srgbClr val="202F43"/>
                </a:solidFill>
                <a:latin typeface="Aptos"/>
              </a:rPr>
              <a:t>•  Game-Theoretic SHAP Foundation: </a:t>
            </a:r>
            <a:r>
              <a:rPr sz="1220" b="0">
                <a:solidFill>
                  <a:srgbClr val="2A313A"/>
                </a:solidFill>
                <a:latin typeface="Aptos"/>
              </a:rPr>
              <a:t>S. M. Lundberg and S.-I. Lee, “A Unified Approach to Interpreting Model Predictions,” Advances in Neural Information Processing Systems (NeurIPS), vol. 30, pp. 4765–4774, 2017.</a:t>
            </a:r>
          </a:p>
          <a:p>
            <a:pPr>
              <a:lnSpc>
                <a:spcPct val="115000"/>
              </a:lnSpc>
              <a:spcAft>
                <a:spcPts val="400"/>
              </a:spcAft>
            </a:pPr>
            <a:r>
              <a:rPr sz="1220" b="1">
                <a:solidFill>
                  <a:srgbClr val="202F43"/>
                </a:solidFill>
                <a:latin typeface="Aptos"/>
              </a:rPr>
              <a:t>•  Project Implementation &amp; Scoping: </a:t>
            </a:r>
            <a:r>
              <a:rPr sz="1220" b="0">
                <a:solidFill>
                  <a:srgbClr val="2A313A"/>
                </a:solidFill>
                <a:latin typeface="Aptos"/>
              </a:rPr>
              <a:t>The prototype’s evaluation metrics, workflow, and feature descriptions refer to our software implementation. Candidate models were evaluated across Stratified 5-Fold Cross-Validation, establishing zero-leakage empirical benchmarks.</a:t>
            </a:r>
          </a:p>
        </p:txBody>
      </p:sp>
      <p:sp>
        <p:nvSpPr>
          <p:cNvPr id="8" name="TextBox 7"/>
          <p:cNvSpPr txBox="1"/>
          <p:nvPr/>
        </p:nvSpPr>
        <p:spPr>
          <a:xfrm>
            <a:off x="822960" y="5715000"/>
            <a:ext cx="10424160" cy="411480"/>
          </a:xfrm>
          <a:prstGeom prst="rect">
            <a:avLst/>
          </a:prstGeom>
          <a:noFill/>
        </p:spPr>
        <p:txBody>
          <a:bodyPr wrap="square" lIns="45720" tIns="36576" rIns="45720" bIns="18288">
            <a:spAutoFit/>
          </a:bodyPr>
          <a:lstStyle/>
          <a:p>
            <a:pPr>
              <a:spcAft>
                <a:spcPts val="0"/>
              </a:spcAft>
              <a:defRPr sz="900" b="0">
                <a:solidFill>
                  <a:srgbClr val="94A3B8"/>
                </a:solidFill>
                <a:latin typeface="Arial"/>
              </a:defRPr>
            </a:pPr>
            <a:r>
              <a:t>BVDU College of Engineering, Pune | Department of Computer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1246</Words>
  <Application>Microsoft Office PowerPoint</Application>
  <PresentationFormat>Widescreen</PresentationFormat>
  <Paragraphs>168</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Sachin Wakurdekar</cp:lastModifiedBy>
  <cp:revision>2</cp:revision>
  <dcterms:created xsi:type="dcterms:W3CDTF">2013-01-27T09:14:16Z</dcterms:created>
  <dcterms:modified xsi:type="dcterms:W3CDTF">2026-10-19T06:08:46Z</dcterms:modified>
  <cp:category/>
</cp:coreProperties>
</file>